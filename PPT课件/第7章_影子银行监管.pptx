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035040"/>
            <a:ext cx="11960352" cy="6400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C0D"/>
                </a:solidFill>
              </a:rPr>
              <a:t>王娴《金融监管理论与实践》配套课件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第 七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D4AC0D"/>
                </a:solidFill>
              </a:rPr>
              <a:t>影子银行监管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DD7EE"/>
                </a:solidFill>
              </a:rPr>
              <a:t>监管套利、系统性风险与宏观审慎管理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C3E6"/>
                </a:solidFill>
              </a:rPr>
              <a:t>深入分析影子银行体系的运行机制、风险属性及监管应对策略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金融监管理论与实践  |  教学课件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第七章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本章内容框架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影子银行的定义与类型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影子银行的风险机制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中国影子银行的演变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影子银行监管的核心工具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第七章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本章学习目标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理解影子银行的定义、类型与运行机制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2257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分析影子银行系统性风险的产生与传导路径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8094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了解中国影子银行的主要业态特征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3931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掌握影子银行监管的国际经验与中国实践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认识资管新规对影子银行治理的深远影响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第七章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影子银行的定义与类型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FSB定义：在正规银行体系之外从事信用中介的实体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功能视角：期限转换、信用转换、流动性转换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主要类型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883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货币市场基金（MMF）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4495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0449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证券化载体（SPV/SIV）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0156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4015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中国特色：理财产品、信托、P2P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75818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5818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影子银行的正面功能与负面风险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第七章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影子银行的风险机制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监管套利：绕开资本、流动性、存款保险等约束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顺周期性：资产价格上涨带动信用扩张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流动性螺旋：去杠杆引发资产价格下跌的恶性循环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信息不透明：复杂产品结构难以有效风险评估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系统性风险传染：与正规银行体系的深度关联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第七章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中国影子银行的演变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第一阶段（2010-2017）：银信合作、理财爆发期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第二阶段（2018-2021）：资管新规整改期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第三阶段（2022至今）：规范化发展期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主要业态规模（2023年估算）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0906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银行理财：约27万亿元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4728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4472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信托资产：约23万亿元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0390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380390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公募基金：约28万亿元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第七章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影子银行监管的核心工具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资管新规（2018）：打破刚性兑付，消除嵌套，净值化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穿透监管：识别资金最终流向与底层资产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宏观审慎评估（MPA）：将表外理财纳入广义信贷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信托业务分类新规（2023）：资产服务信托等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理财子公司制度：银行理财独立运营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第七章  |  案例分析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中国P2P网贷全行业清零（2015-2020年）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208483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73152" cy="20848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179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【案例背景】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112471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2015年前后，中国P2P平台数量超过3000家，累计借贷余额突破万亿元。由于缺乏准入门槛和有效监管，大量平台以金融创新名义从事非法集资、自融自用。2018年开始的专项整治行动，历经三年，到2020年底实现P2P网贷行业全面清零，累计问题平台超过5000家，损害投资者利益逾数千亿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1246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【案例分析】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监管缺位：长期以鼓励创新为由放任发展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988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信息严重不对称：平台信息披露几乎形同虚设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8289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刚性兑付预期：投资者误将P2P视为保本产品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669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挤兑连锁：平台暴雷引发行业恐慌性赎回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650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处置代价：受害投资者维权难，资金回收率极低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第七章  |  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影子银行监管 — 核心要点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影子银行从事类银行信用中介活动但游离于正规监管框架之外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30552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期限错配、信用转换和信息不透明是影子银行的核心风险特征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33472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33472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06624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资管新规是中国治理影子银行最重要的制度性变革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9544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209544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82696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穿透监管和宏观审慎政策是影子银行监管的主要工具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85615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85615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58768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P2P行业的清零教训表明金融创新必须在监管框架内进行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第七章  |  思考与讨论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本章思考题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62763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影子银行的影子主要体现在哪些方面？它与正规银行有何本质区别？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322576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资管新规打破刚性兑付对金融市场和投资者行为有何影响？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01752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穿透监管原则的核心理念是什么？在实践中面临哪些挑战？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3712463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P2P行业的兴衰对中国普惠金融发展有何启示？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