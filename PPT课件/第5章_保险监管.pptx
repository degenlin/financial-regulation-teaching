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6035040"/>
            <a:ext cx="11960352" cy="64008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4AC0D"/>
                </a:solidFill>
              </a:rPr>
              <a:t>王娴《金融监管理论与实践》配套课件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4572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第 五 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D4AC0D"/>
                </a:solidFill>
              </a:rPr>
              <a:t>保险监管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175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BDD7EE"/>
                </a:solidFill>
              </a:rPr>
              <a:t>偿付能力监管、行为监管与保险市场发展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49039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DC3E6"/>
                </a:solidFill>
              </a:rPr>
              <a:t>系统介绍保险监管的特殊逻辑、偿付能力体系与中国保险市场改革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08076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金融监管理论与实践  |  教学课件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09728" cy="5577840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914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4AC0D"/>
                </a:solidFill>
              </a:rPr>
              <a:t>第五章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411480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本章内容框架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1481328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AC0D"/>
                </a:solidFill>
              </a:rPr>
              <a:t>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81328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保险监管的特殊性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883664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AC0D"/>
                </a:solidFill>
              </a:rPr>
              <a:t>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83664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偿付能力监管体系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2286000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AC0D"/>
                </a:solidFill>
              </a:rPr>
              <a:t>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286000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保险行为监管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" y="2688336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AC0D"/>
                </a:solidFill>
              </a:rPr>
              <a:t>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688336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中国保险市场监管改革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88952" cy="54864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4AC0D"/>
                </a:solidFill>
              </a:rPr>
              <a:t>第五章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57200"/>
            <a:ext cx="9144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本章学习目标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64208"/>
            <a:ext cx="502920" cy="457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66420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66420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3A6B"/>
                </a:solidFill>
              </a:rPr>
              <a:t>理解保险监管的特殊必要性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322576"/>
            <a:ext cx="502920" cy="457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32257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322576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3A6B"/>
                </a:solidFill>
              </a:rPr>
              <a:t>掌握偿付能力监管的核心指标与框架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980944"/>
            <a:ext cx="502920" cy="457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980944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980944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3A6B"/>
                </a:solidFill>
              </a:rPr>
              <a:t>了解中国偿二代（C-ROSS）的基本架构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639311"/>
            <a:ext cx="502920" cy="457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639311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639311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3A6B"/>
                </a:solidFill>
              </a:rPr>
              <a:t>认识保险行为监管的主要内容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297679"/>
            <a:ext cx="502920" cy="457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297679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297679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3A6B"/>
                </a:solidFill>
              </a:rPr>
              <a:t>分析保险市场发展的主要问题与监管应对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09728" cy="55778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914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4AC0D"/>
                </a:solidFill>
              </a:rPr>
              <a:t>第五章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411480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保险监管的特殊性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1481328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81328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保险的特殊属性：风险聚合与再分散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883664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83664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逆生产周期：先收费后理赔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2286000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286000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信息不对称：逆向选择与道德风险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88336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268833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健康险的逆向选择问题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044952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304495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保险欺诈的道德风险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" y="3401568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401568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保险公司失败的特殊危害：长期合同的社会影响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09728" cy="55778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914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4AC0D"/>
                </a:solidFill>
              </a:rPr>
              <a:t>第五章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411480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偿付能力监管体系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1481328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81328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偿付能力的经济学含义：资产大于负债的能力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883664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83664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中国偿二代（C-ROSS 2.0，2022年）三支柱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86000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2860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支柱一：定量资本要求（实际资本/最低资本）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42616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264261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支柱二：定性监管要求（风险管理与内控）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99232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299923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支柱三：市场约束（信息披露）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" y="3355848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355848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综合偿付能力充足率不低于100%，核心偿付能力充足率不低于50%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" y="3758184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758184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国际比较：欧盟Solvency II风险导向框架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09728" cy="55778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914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4AC0D"/>
                </a:solidFill>
              </a:rPr>
              <a:t>第五章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411480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保险行为监管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1481328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81328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销售误导监管：人身险双录制度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883664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83664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保险条款审查：格式条款的公平性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2286000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286000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理赔纠纷处理机制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" y="2688336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688336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互联网保险监管：场景保险与嵌入式保险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" y="3090672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090672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保险资金运用监管：大类资产配置比例限制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09728" cy="55778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914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4AC0D"/>
                </a:solidFill>
              </a:rPr>
              <a:t>第五章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411480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中国保险市场监管改革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1481328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81328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人身险定价改革：预定利率动态调整机制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883664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83664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健康险发展：政策性健康险与商业健康险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2286000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286000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农业保险：政策性农业保险的财政补贴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" y="2688336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688336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保险资管：保险资产管理公司的崛起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" y="3090672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090672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车险综合改革：费率市场化与降价增保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4AC0D"/>
                </a:solidFill>
              </a:rPr>
              <a:t>第五章  |  案例分析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57200"/>
            <a:ext cx="11430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安邦集团风险处置（2018年）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81328"/>
            <a:ext cx="11612880" cy="208483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81328"/>
            <a:ext cx="73152" cy="2084831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1790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0392B"/>
                </a:solidFill>
              </a:rPr>
              <a:t>【案例背景】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74519"/>
            <a:ext cx="11247120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安邦集团通过激进的万能险营销大规模吸收公众资金，快速扩张至总资产近2万亿元，并进行大量境外收购。2018年，原保监会以违规经营为由对其实施接管，历时两年完成风险处置，最终重组为大家保险集团。这是中国首次对大型保险集团实施行政接管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712463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【案例分析】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114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3A6B"/>
                </a:solidFill>
              </a:rPr>
              <a:t>▸  监管套利：万能险被异化为高收益理财产品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49884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3A6B"/>
                </a:solidFill>
              </a:rPr>
              <a:t>▸  期限错配：用短期负债对接长期甚至不动产投资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882896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3A6B"/>
                </a:solidFill>
              </a:rPr>
              <a:t>▸  偿付能力虚高：通过关联交易虚增资本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26694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3A6B"/>
                </a:solidFill>
              </a:rPr>
              <a:t>▸  处置机制：保险法第144条行政接管的首次大规模适用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65099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3A6B"/>
                </a:solidFill>
              </a:rPr>
              <a:t>▸  监管改革：强化万能险账户价值披露，收紧中短期存续产品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4AC0D"/>
                </a:solidFill>
              </a:rPr>
              <a:t>第五章  |  本章小结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57200"/>
            <a:ext cx="10972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保险监管 — 核心要点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81328"/>
            <a:ext cx="1161288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81328"/>
            <a:ext cx="54864" cy="54864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11247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3A6B"/>
                </a:solidFill>
              </a:rPr>
              <a:t>  保险监管的核心是确保保险公司持续履行保险合同义务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116128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54864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30552"/>
            <a:ext cx="11247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3A6B"/>
                </a:solidFill>
              </a:rPr>
              <a:t>  偿付能力监管是保险监管最重要的审慎监管工具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633472"/>
            <a:ext cx="1161288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633472"/>
            <a:ext cx="54864" cy="54864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706624"/>
            <a:ext cx="11247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3A6B"/>
                </a:solidFill>
              </a:rPr>
              <a:t>  中国偿二代实现了从规模导向到风险导向的根本转变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209544"/>
            <a:ext cx="116128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209544"/>
            <a:ext cx="54864" cy="54864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282696"/>
            <a:ext cx="11247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3A6B"/>
                </a:solidFill>
              </a:rPr>
              <a:t>  行为监管聚焦销售行为、条款公平和理赔服务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785615"/>
            <a:ext cx="1161288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3785615"/>
            <a:ext cx="54864" cy="54864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858768"/>
            <a:ext cx="11247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3A6B"/>
                </a:solidFill>
              </a:rPr>
              <a:t>  安邦案例表明大型保险集团监管需要更强的早期预警机制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D1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88952" cy="54864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4AC0D"/>
                </a:solidFill>
              </a:rPr>
              <a:t>第五章  |  思考与讨论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57200"/>
            <a:ext cx="9144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本章思考题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27632"/>
            <a:ext cx="621792" cy="475488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627632"/>
            <a:ext cx="6217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3A6B"/>
                </a:solidFill>
              </a:rP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1627632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DD7EE"/>
                </a:solidFill>
              </a:rPr>
              <a:t>保险监管与银行监管在监管重点和手段上有何异同？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322576"/>
            <a:ext cx="621792" cy="475488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2322576"/>
            <a:ext cx="6217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3A6B"/>
                </a:solidFill>
              </a:rPr>
              <a:t>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2322576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DD7EE"/>
                </a:solidFill>
              </a:rPr>
              <a:t>偿付能力监管的风险导向理念体现在哪些方面？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17520"/>
            <a:ext cx="621792" cy="475488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3017520"/>
            <a:ext cx="6217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3A6B"/>
                </a:solidFill>
              </a:rPr>
              <a:t>Q3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1" y="3017520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DD7EE"/>
                </a:solidFill>
              </a:rPr>
              <a:t>如何理解万能险的双刃剑属性？监管应如何应对？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712463"/>
            <a:ext cx="621792" cy="475488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3712463"/>
            <a:ext cx="6217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3A6B"/>
                </a:solidFill>
              </a:rPr>
              <a:t>Q4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1" y="3712463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DD7EE"/>
                </a:solidFill>
              </a:rPr>
              <a:t>中国人身险定价改革的目标是什么？对市场会产生哪些影响？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