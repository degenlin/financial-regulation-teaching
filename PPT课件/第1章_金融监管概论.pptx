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A6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35040"/>
            <a:ext cx="12188952"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6035040"/>
            <a:ext cx="11960352" cy="64008"/>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457200"/>
          </a:xfrm>
          <a:prstGeom prst="rect">
            <a:avLst/>
          </a:prstGeom>
          <a:noFill/>
        </p:spPr>
        <p:txBody>
          <a:bodyPr wrap="square">
            <a:spAutoFit/>
          </a:bodyPr>
          <a:lstStyle/>
          <a:p>
            <a:pPr algn="l"/>
            <a:r>
              <a:rPr sz="1300" b="0">
                <a:solidFill>
                  <a:srgbClr val="D4AC0D"/>
                </a:solidFill>
              </a:rPr>
              <a:t>王娴《金融监管理论与实践》配套课件</a:t>
            </a:r>
          </a:p>
        </p:txBody>
      </p:sp>
      <p:sp>
        <p:nvSpPr>
          <p:cNvPr id="6" name="TextBox 5"/>
          <p:cNvSpPr txBox="1"/>
          <p:nvPr/>
        </p:nvSpPr>
        <p:spPr>
          <a:xfrm>
            <a:off x="548640" y="1005840"/>
            <a:ext cx="4572000" cy="777240"/>
          </a:xfrm>
          <a:prstGeom prst="rect">
            <a:avLst/>
          </a:prstGeom>
          <a:noFill/>
        </p:spPr>
        <p:txBody>
          <a:bodyPr wrap="square">
            <a:spAutoFit/>
          </a:bodyPr>
          <a:lstStyle/>
          <a:p>
            <a:pPr algn="l"/>
            <a:r>
              <a:rPr sz="3400" b="1">
                <a:solidFill>
                  <a:srgbClr val="FFFFFF"/>
                </a:solidFill>
              </a:rPr>
              <a:t>第 一 章</a:t>
            </a:r>
          </a:p>
        </p:txBody>
      </p:sp>
      <p:sp>
        <p:nvSpPr>
          <p:cNvPr id="7" name="TextBox 6"/>
          <p:cNvSpPr txBox="1"/>
          <p:nvPr/>
        </p:nvSpPr>
        <p:spPr>
          <a:xfrm>
            <a:off x="548640" y="1828800"/>
            <a:ext cx="10972800" cy="1051560"/>
          </a:xfrm>
          <a:prstGeom prst="rect">
            <a:avLst/>
          </a:prstGeom>
          <a:noFill/>
        </p:spPr>
        <p:txBody>
          <a:bodyPr wrap="square">
            <a:spAutoFit/>
          </a:bodyPr>
          <a:lstStyle/>
          <a:p>
            <a:pPr algn="l"/>
            <a:r>
              <a:rPr sz="3800" b="1">
                <a:solidFill>
                  <a:srgbClr val="D4AC0D"/>
                </a:solidFill>
              </a:rPr>
              <a:t>金融监管概论</a:t>
            </a:r>
          </a:p>
        </p:txBody>
      </p:sp>
      <p:sp>
        <p:nvSpPr>
          <p:cNvPr id="8" name="TextBox 7"/>
          <p:cNvSpPr txBox="1"/>
          <p:nvPr/>
        </p:nvSpPr>
        <p:spPr>
          <a:xfrm>
            <a:off x="548640" y="3017520"/>
            <a:ext cx="10972800" cy="594360"/>
          </a:xfrm>
          <a:prstGeom prst="rect">
            <a:avLst/>
          </a:prstGeom>
          <a:noFill/>
        </p:spPr>
        <p:txBody>
          <a:bodyPr wrap="square">
            <a:spAutoFit/>
          </a:bodyPr>
          <a:lstStyle/>
          <a:p>
            <a:pPr algn="l"/>
            <a:r>
              <a:rPr sz="1900" b="0">
                <a:solidFill>
                  <a:srgbClr val="BDD7EE"/>
                </a:solidFill>
              </a:rPr>
              <a:t>金融监管的定义、必要性与监管框架</a:t>
            </a:r>
          </a:p>
        </p:txBody>
      </p:sp>
      <p:sp>
        <p:nvSpPr>
          <p:cNvPr id="9" name="TextBox 8"/>
          <p:cNvSpPr txBox="1"/>
          <p:nvPr/>
        </p:nvSpPr>
        <p:spPr>
          <a:xfrm>
            <a:off x="548640" y="3749039"/>
            <a:ext cx="10515600" cy="1097280"/>
          </a:xfrm>
          <a:prstGeom prst="rect">
            <a:avLst/>
          </a:prstGeom>
          <a:noFill/>
        </p:spPr>
        <p:txBody>
          <a:bodyPr wrap="square">
            <a:spAutoFit/>
          </a:bodyPr>
          <a:lstStyle/>
          <a:p>
            <a:pPr algn="l"/>
            <a:r>
              <a:rPr sz="1300" b="0">
                <a:solidFill>
                  <a:srgbClr val="9DC3E6"/>
                </a:solidFill>
              </a:rPr>
              <a:t>从金融体系的内在脆弱性出发，阐释金融监管的经济学逻辑与制度安排</a:t>
            </a:r>
          </a:p>
        </p:txBody>
      </p:sp>
      <p:sp>
        <p:nvSpPr>
          <p:cNvPr id="10" name="TextBox 9"/>
          <p:cNvSpPr txBox="1"/>
          <p:nvPr/>
        </p:nvSpPr>
        <p:spPr>
          <a:xfrm>
            <a:off x="548640" y="6080760"/>
            <a:ext cx="7315200" cy="411480"/>
          </a:xfrm>
          <a:prstGeom prst="rect">
            <a:avLst/>
          </a:prstGeom>
          <a:noFill/>
        </p:spPr>
        <p:txBody>
          <a:bodyPr wrap="square">
            <a:spAutoFit/>
          </a:bodyPr>
          <a:lstStyle/>
          <a:p>
            <a:pPr algn="l"/>
            <a:r>
              <a:rPr sz="1100" b="0">
                <a:solidFill>
                  <a:srgbClr val="FFFFFF"/>
                </a:solidFill>
              </a:rPr>
              <a:t>金融监管理论与实践  |  教学课件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09728" cy="5577840"/>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91440"/>
            <a:ext cx="18288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182880" y="411480"/>
            <a:ext cx="11430000" cy="749808"/>
          </a:xfrm>
          <a:prstGeom prst="rect">
            <a:avLst/>
          </a:prstGeom>
          <a:noFill/>
        </p:spPr>
        <p:txBody>
          <a:bodyPr wrap="square">
            <a:spAutoFit/>
          </a:bodyPr>
          <a:lstStyle/>
          <a:p>
            <a:pPr algn="l"/>
            <a:r>
              <a:rPr sz="2400" b="1">
                <a:solidFill>
                  <a:srgbClr val="FFFFFF"/>
                </a:solidFill>
              </a:rPr>
              <a:t>本章内容框架</a:t>
            </a:r>
          </a:p>
        </p:txBody>
      </p:sp>
      <p:sp>
        <p:nvSpPr>
          <p:cNvPr id="6" name="TextBox 5"/>
          <p:cNvSpPr txBox="1"/>
          <p:nvPr/>
        </p:nvSpPr>
        <p:spPr>
          <a:xfrm>
            <a:off x="292608" y="1481328"/>
            <a:ext cx="347472" cy="365760"/>
          </a:xfrm>
          <a:prstGeom prst="rect">
            <a:avLst/>
          </a:prstGeom>
          <a:noFill/>
        </p:spPr>
        <p:txBody>
          <a:bodyPr wrap="square">
            <a:spAutoFit/>
          </a:bodyPr>
          <a:lstStyle/>
          <a:p>
            <a:pPr algn="l"/>
            <a:r>
              <a:rPr sz="1300" b="1">
                <a:solidFill>
                  <a:srgbClr val="D4AC0D"/>
                </a:solidFill>
              </a:rPr>
              <a:t>◆</a:t>
            </a:r>
          </a:p>
        </p:txBody>
      </p:sp>
      <p:sp>
        <p:nvSpPr>
          <p:cNvPr id="7" name="TextBox 6"/>
          <p:cNvSpPr txBox="1"/>
          <p:nvPr/>
        </p:nvSpPr>
        <p:spPr>
          <a:xfrm>
            <a:off x="594360" y="1481328"/>
            <a:ext cx="10863072" cy="365760"/>
          </a:xfrm>
          <a:prstGeom prst="rect">
            <a:avLst/>
          </a:prstGeom>
          <a:noFill/>
        </p:spPr>
        <p:txBody>
          <a:bodyPr wrap="square">
            <a:spAutoFit/>
          </a:bodyPr>
          <a:lstStyle/>
          <a:p>
            <a:pPr algn="l"/>
            <a:r>
              <a:rPr sz="1300" b="1">
                <a:solidFill>
                  <a:srgbClr val="1A3A6B"/>
                </a:solidFill>
              </a:rPr>
              <a:t>金融监管的定义与内涵</a:t>
            </a:r>
          </a:p>
        </p:txBody>
      </p:sp>
      <p:sp>
        <p:nvSpPr>
          <p:cNvPr id="8" name="TextBox 7"/>
          <p:cNvSpPr txBox="1"/>
          <p:nvPr/>
        </p:nvSpPr>
        <p:spPr>
          <a:xfrm>
            <a:off x="292608" y="1883664"/>
            <a:ext cx="347472" cy="365760"/>
          </a:xfrm>
          <a:prstGeom prst="rect">
            <a:avLst/>
          </a:prstGeom>
          <a:noFill/>
        </p:spPr>
        <p:txBody>
          <a:bodyPr wrap="square">
            <a:spAutoFit/>
          </a:bodyPr>
          <a:lstStyle/>
          <a:p>
            <a:pPr algn="l"/>
            <a:r>
              <a:rPr sz="1300" b="1">
                <a:solidFill>
                  <a:srgbClr val="D4AC0D"/>
                </a:solidFill>
              </a:rPr>
              <a:t>◆</a:t>
            </a:r>
          </a:p>
        </p:txBody>
      </p:sp>
      <p:sp>
        <p:nvSpPr>
          <p:cNvPr id="9" name="TextBox 8"/>
          <p:cNvSpPr txBox="1"/>
          <p:nvPr/>
        </p:nvSpPr>
        <p:spPr>
          <a:xfrm>
            <a:off x="594360" y="1883664"/>
            <a:ext cx="10863072" cy="365760"/>
          </a:xfrm>
          <a:prstGeom prst="rect">
            <a:avLst/>
          </a:prstGeom>
          <a:noFill/>
        </p:spPr>
        <p:txBody>
          <a:bodyPr wrap="square">
            <a:spAutoFit/>
          </a:bodyPr>
          <a:lstStyle/>
          <a:p>
            <a:pPr algn="l"/>
            <a:r>
              <a:rPr sz="1300" b="1">
                <a:solidFill>
                  <a:srgbClr val="1A3A6B"/>
                </a:solidFill>
              </a:rPr>
              <a:t>金融监管的必要性</a:t>
            </a:r>
          </a:p>
        </p:txBody>
      </p:sp>
      <p:sp>
        <p:nvSpPr>
          <p:cNvPr id="10" name="TextBox 9"/>
          <p:cNvSpPr txBox="1"/>
          <p:nvPr/>
        </p:nvSpPr>
        <p:spPr>
          <a:xfrm>
            <a:off x="292608" y="2286000"/>
            <a:ext cx="347472" cy="365760"/>
          </a:xfrm>
          <a:prstGeom prst="rect">
            <a:avLst/>
          </a:prstGeom>
          <a:noFill/>
        </p:spPr>
        <p:txBody>
          <a:bodyPr wrap="square">
            <a:spAutoFit/>
          </a:bodyPr>
          <a:lstStyle/>
          <a:p>
            <a:pPr algn="l"/>
            <a:r>
              <a:rPr sz="1300" b="1">
                <a:solidFill>
                  <a:srgbClr val="D4AC0D"/>
                </a:solidFill>
              </a:rPr>
              <a:t>◆</a:t>
            </a:r>
          </a:p>
        </p:txBody>
      </p:sp>
      <p:sp>
        <p:nvSpPr>
          <p:cNvPr id="11" name="TextBox 10"/>
          <p:cNvSpPr txBox="1"/>
          <p:nvPr/>
        </p:nvSpPr>
        <p:spPr>
          <a:xfrm>
            <a:off x="594360" y="2286000"/>
            <a:ext cx="10863072" cy="365760"/>
          </a:xfrm>
          <a:prstGeom prst="rect">
            <a:avLst/>
          </a:prstGeom>
          <a:noFill/>
        </p:spPr>
        <p:txBody>
          <a:bodyPr wrap="square">
            <a:spAutoFit/>
          </a:bodyPr>
          <a:lstStyle/>
          <a:p>
            <a:pPr algn="l"/>
            <a:r>
              <a:rPr sz="1300" b="1">
                <a:solidFill>
                  <a:srgbClr val="1A3A6B"/>
                </a:solidFill>
              </a:rPr>
              <a:t>金融监管的目标体系</a:t>
            </a:r>
          </a:p>
        </p:txBody>
      </p:sp>
      <p:sp>
        <p:nvSpPr>
          <p:cNvPr id="12" name="TextBox 11"/>
          <p:cNvSpPr txBox="1"/>
          <p:nvPr/>
        </p:nvSpPr>
        <p:spPr>
          <a:xfrm>
            <a:off x="292608" y="2688336"/>
            <a:ext cx="347472" cy="365760"/>
          </a:xfrm>
          <a:prstGeom prst="rect">
            <a:avLst/>
          </a:prstGeom>
          <a:noFill/>
        </p:spPr>
        <p:txBody>
          <a:bodyPr wrap="square">
            <a:spAutoFit/>
          </a:bodyPr>
          <a:lstStyle/>
          <a:p>
            <a:pPr algn="l"/>
            <a:r>
              <a:rPr sz="1300" b="1">
                <a:solidFill>
                  <a:srgbClr val="D4AC0D"/>
                </a:solidFill>
              </a:rPr>
              <a:t>◆</a:t>
            </a:r>
          </a:p>
        </p:txBody>
      </p:sp>
      <p:sp>
        <p:nvSpPr>
          <p:cNvPr id="13" name="TextBox 12"/>
          <p:cNvSpPr txBox="1"/>
          <p:nvPr/>
        </p:nvSpPr>
        <p:spPr>
          <a:xfrm>
            <a:off x="594360" y="2688336"/>
            <a:ext cx="10863072" cy="365760"/>
          </a:xfrm>
          <a:prstGeom prst="rect">
            <a:avLst/>
          </a:prstGeom>
          <a:noFill/>
        </p:spPr>
        <p:txBody>
          <a:bodyPr wrap="square">
            <a:spAutoFit/>
          </a:bodyPr>
          <a:lstStyle/>
          <a:p>
            <a:pPr algn="l"/>
            <a:r>
              <a:rPr sz="1300" b="1">
                <a:solidFill>
                  <a:srgbClr val="1A3A6B"/>
                </a:solidFill>
              </a:rPr>
              <a:t>金融监管体制的国际比较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27432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274320" y="457200"/>
            <a:ext cx="9144000" cy="749808"/>
          </a:xfrm>
          <a:prstGeom prst="rect">
            <a:avLst/>
          </a:prstGeom>
          <a:noFill/>
        </p:spPr>
        <p:txBody>
          <a:bodyPr wrap="square">
            <a:spAutoFit/>
          </a:bodyPr>
          <a:lstStyle/>
          <a:p>
            <a:pPr algn="l"/>
            <a:r>
              <a:rPr sz="2800" b="1">
                <a:solidFill>
                  <a:srgbClr val="FFFFFF"/>
                </a:solidFill>
              </a:rPr>
              <a:t>本章学习目标</a:t>
            </a:r>
          </a:p>
        </p:txBody>
      </p:sp>
      <p:sp>
        <p:nvSpPr>
          <p:cNvPr id="6" name="Rectangle 5"/>
          <p:cNvSpPr/>
          <p:nvPr/>
        </p:nvSpPr>
        <p:spPr>
          <a:xfrm>
            <a:off x="365760" y="1664208"/>
            <a:ext cx="50292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64208"/>
            <a:ext cx="502920" cy="457200"/>
          </a:xfrm>
          <a:prstGeom prst="rect">
            <a:avLst/>
          </a:prstGeom>
          <a:noFill/>
        </p:spPr>
        <p:txBody>
          <a:bodyPr wrap="square">
            <a:spAutoFit/>
          </a:bodyPr>
          <a:lstStyle/>
          <a:p>
            <a:pPr algn="ctr"/>
            <a:r>
              <a:rPr sz="1700" b="1">
                <a:solidFill>
                  <a:srgbClr val="FFFFFF"/>
                </a:solidFill>
              </a:rPr>
              <a:t>1</a:t>
            </a:r>
          </a:p>
        </p:txBody>
      </p:sp>
      <p:sp>
        <p:nvSpPr>
          <p:cNvPr id="8" name="TextBox 7"/>
          <p:cNvSpPr txBox="1"/>
          <p:nvPr/>
        </p:nvSpPr>
        <p:spPr>
          <a:xfrm>
            <a:off x="1005840" y="1664208"/>
            <a:ext cx="10515600" cy="457200"/>
          </a:xfrm>
          <a:prstGeom prst="rect">
            <a:avLst/>
          </a:prstGeom>
          <a:noFill/>
        </p:spPr>
        <p:txBody>
          <a:bodyPr wrap="square">
            <a:spAutoFit/>
          </a:bodyPr>
          <a:lstStyle/>
          <a:p>
            <a:pPr algn="l"/>
            <a:r>
              <a:rPr sz="1400" b="0">
                <a:solidFill>
                  <a:srgbClr val="1A3A6B"/>
                </a:solidFill>
              </a:rPr>
              <a:t>理解金融监管的基本概念与内涵</a:t>
            </a:r>
          </a:p>
        </p:txBody>
      </p:sp>
      <p:sp>
        <p:nvSpPr>
          <p:cNvPr id="9" name="Rectangle 8"/>
          <p:cNvSpPr/>
          <p:nvPr/>
        </p:nvSpPr>
        <p:spPr>
          <a:xfrm>
            <a:off x="365760" y="2322576"/>
            <a:ext cx="50292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322576"/>
            <a:ext cx="502920" cy="457200"/>
          </a:xfrm>
          <a:prstGeom prst="rect">
            <a:avLst/>
          </a:prstGeom>
          <a:noFill/>
        </p:spPr>
        <p:txBody>
          <a:bodyPr wrap="square">
            <a:spAutoFit/>
          </a:bodyPr>
          <a:lstStyle/>
          <a:p>
            <a:pPr algn="ctr"/>
            <a:r>
              <a:rPr sz="1700" b="1">
                <a:solidFill>
                  <a:srgbClr val="FFFFFF"/>
                </a:solidFill>
              </a:rPr>
              <a:t>2</a:t>
            </a:r>
          </a:p>
        </p:txBody>
      </p:sp>
      <p:sp>
        <p:nvSpPr>
          <p:cNvPr id="11" name="TextBox 10"/>
          <p:cNvSpPr txBox="1"/>
          <p:nvPr/>
        </p:nvSpPr>
        <p:spPr>
          <a:xfrm>
            <a:off x="1005840" y="2322576"/>
            <a:ext cx="10515600" cy="457200"/>
          </a:xfrm>
          <a:prstGeom prst="rect">
            <a:avLst/>
          </a:prstGeom>
          <a:noFill/>
        </p:spPr>
        <p:txBody>
          <a:bodyPr wrap="square">
            <a:spAutoFit/>
          </a:bodyPr>
          <a:lstStyle/>
          <a:p>
            <a:pPr algn="l"/>
            <a:r>
              <a:rPr sz="1400" b="0">
                <a:solidFill>
                  <a:srgbClr val="1A3A6B"/>
                </a:solidFill>
              </a:rPr>
              <a:t>掌握金融监管的经济学理论依据</a:t>
            </a:r>
          </a:p>
        </p:txBody>
      </p:sp>
      <p:sp>
        <p:nvSpPr>
          <p:cNvPr id="12" name="Rectangle 11"/>
          <p:cNvSpPr/>
          <p:nvPr/>
        </p:nvSpPr>
        <p:spPr>
          <a:xfrm>
            <a:off x="365760" y="2980944"/>
            <a:ext cx="50292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80944"/>
            <a:ext cx="502920" cy="457200"/>
          </a:xfrm>
          <a:prstGeom prst="rect">
            <a:avLst/>
          </a:prstGeom>
          <a:noFill/>
        </p:spPr>
        <p:txBody>
          <a:bodyPr wrap="square">
            <a:spAutoFit/>
          </a:bodyPr>
          <a:lstStyle/>
          <a:p>
            <a:pPr algn="ctr"/>
            <a:r>
              <a:rPr sz="1700" b="1">
                <a:solidFill>
                  <a:srgbClr val="FFFFFF"/>
                </a:solidFill>
              </a:rPr>
              <a:t>3</a:t>
            </a:r>
          </a:p>
        </p:txBody>
      </p:sp>
      <p:sp>
        <p:nvSpPr>
          <p:cNvPr id="14" name="TextBox 13"/>
          <p:cNvSpPr txBox="1"/>
          <p:nvPr/>
        </p:nvSpPr>
        <p:spPr>
          <a:xfrm>
            <a:off x="1005840" y="2980944"/>
            <a:ext cx="10515600" cy="457200"/>
          </a:xfrm>
          <a:prstGeom prst="rect">
            <a:avLst/>
          </a:prstGeom>
          <a:noFill/>
        </p:spPr>
        <p:txBody>
          <a:bodyPr wrap="square">
            <a:spAutoFit/>
          </a:bodyPr>
          <a:lstStyle/>
          <a:p>
            <a:pPr algn="l"/>
            <a:r>
              <a:rPr sz="1400" b="0">
                <a:solidFill>
                  <a:srgbClr val="1A3A6B"/>
                </a:solidFill>
              </a:rPr>
              <a:t>了解金融监管的主要目标与功能</a:t>
            </a:r>
          </a:p>
        </p:txBody>
      </p:sp>
      <p:sp>
        <p:nvSpPr>
          <p:cNvPr id="15" name="Rectangle 14"/>
          <p:cNvSpPr/>
          <p:nvPr/>
        </p:nvSpPr>
        <p:spPr>
          <a:xfrm>
            <a:off x="365760" y="3639311"/>
            <a:ext cx="50292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639311"/>
            <a:ext cx="502920" cy="457200"/>
          </a:xfrm>
          <a:prstGeom prst="rect">
            <a:avLst/>
          </a:prstGeom>
          <a:noFill/>
        </p:spPr>
        <p:txBody>
          <a:bodyPr wrap="square">
            <a:spAutoFit/>
          </a:bodyPr>
          <a:lstStyle/>
          <a:p>
            <a:pPr algn="ctr"/>
            <a:r>
              <a:rPr sz="1700" b="1">
                <a:solidFill>
                  <a:srgbClr val="FFFFFF"/>
                </a:solidFill>
              </a:rPr>
              <a:t>4</a:t>
            </a:r>
          </a:p>
        </p:txBody>
      </p:sp>
      <p:sp>
        <p:nvSpPr>
          <p:cNvPr id="17" name="TextBox 16"/>
          <p:cNvSpPr txBox="1"/>
          <p:nvPr/>
        </p:nvSpPr>
        <p:spPr>
          <a:xfrm>
            <a:off x="1005840" y="3639311"/>
            <a:ext cx="10515600" cy="457200"/>
          </a:xfrm>
          <a:prstGeom prst="rect">
            <a:avLst/>
          </a:prstGeom>
          <a:noFill/>
        </p:spPr>
        <p:txBody>
          <a:bodyPr wrap="square">
            <a:spAutoFit/>
          </a:bodyPr>
          <a:lstStyle/>
          <a:p>
            <a:pPr algn="l"/>
            <a:r>
              <a:rPr sz="1400" b="0">
                <a:solidFill>
                  <a:srgbClr val="1A3A6B"/>
                </a:solidFill>
              </a:rPr>
              <a:t>认识中国金融监管体制的演变历程</a:t>
            </a:r>
          </a:p>
        </p:txBody>
      </p:sp>
      <p:sp>
        <p:nvSpPr>
          <p:cNvPr id="18" name="Rectangle 17"/>
          <p:cNvSpPr/>
          <p:nvPr/>
        </p:nvSpPr>
        <p:spPr>
          <a:xfrm>
            <a:off x="365760" y="4297679"/>
            <a:ext cx="50292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297679"/>
            <a:ext cx="502920" cy="457200"/>
          </a:xfrm>
          <a:prstGeom prst="rect">
            <a:avLst/>
          </a:prstGeom>
          <a:noFill/>
        </p:spPr>
        <p:txBody>
          <a:bodyPr wrap="square">
            <a:spAutoFit/>
          </a:bodyPr>
          <a:lstStyle/>
          <a:p>
            <a:pPr algn="ctr"/>
            <a:r>
              <a:rPr sz="1700" b="1">
                <a:solidFill>
                  <a:srgbClr val="FFFFFF"/>
                </a:solidFill>
              </a:rPr>
              <a:t>5</a:t>
            </a:r>
          </a:p>
        </p:txBody>
      </p:sp>
      <p:sp>
        <p:nvSpPr>
          <p:cNvPr id="20" name="TextBox 19"/>
          <p:cNvSpPr txBox="1"/>
          <p:nvPr/>
        </p:nvSpPr>
        <p:spPr>
          <a:xfrm>
            <a:off x="1005840" y="4297679"/>
            <a:ext cx="10515600" cy="457200"/>
          </a:xfrm>
          <a:prstGeom prst="rect">
            <a:avLst/>
          </a:prstGeom>
          <a:noFill/>
        </p:spPr>
        <p:txBody>
          <a:bodyPr wrap="square">
            <a:spAutoFit/>
          </a:bodyPr>
          <a:lstStyle/>
          <a:p>
            <a:pPr algn="l"/>
            <a:r>
              <a:rPr sz="1400" b="0">
                <a:solidFill>
                  <a:srgbClr val="1A3A6B"/>
                </a:solidFill>
              </a:rPr>
              <a:t>把握金融监管改革的总体方向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09728" cy="5577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91440"/>
            <a:ext cx="18288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182880" y="411480"/>
            <a:ext cx="11430000" cy="749808"/>
          </a:xfrm>
          <a:prstGeom prst="rect">
            <a:avLst/>
          </a:prstGeom>
          <a:noFill/>
        </p:spPr>
        <p:txBody>
          <a:bodyPr wrap="square">
            <a:spAutoFit/>
          </a:bodyPr>
          <a:lstStyle/>
          <a:p>
            <a:pPr algn="l"/>
            <a:r>
              <a:rPr sz="2400" b="1">
                <a:solidFill>
                  <a:srgbClr val="FFFFFF"/>
                </a:solidFill>
              </a:rPr>
              <a:t>金融监管的定义与内涵</a:t>
            </a:r>
          </a:p>
        </p:txBody>
      </p:sp>
      <p:sp>
        <p:nvSpPr>
          <p:cNvPr id="6" name="TextBox 5"/>
          <p:cNvSpPr txBox="1"/>
          <p:nvPr/>
        </p:nvSpPr>
        <p:spPr>
          <a:xfrm>
            <a:off x="292608" y="1481328"/>
            <a:ext cx="347472" cy="365760"/>
          </a:xfrm>
          <a:prstGeom prst="rect">
            <a:avLst/>
          </a:prstGeom>
          <a:noFill/>
        </p:spPr>
        <p:txBody>
          <a:bodyPr wrap="square">
            <a:spAutoFit/>
          </a:bodyPr>
          <a:lstStyle/>
          <a:p>
            <a:pPr algn="l"/>
            <a:r>
              <a:rPr sz="1300" b="1">
                <a:solidFill>
                  <a:srgbClr val="2E75B6"/>
                </a:solidFill>
              </a:rPr>
              <a:t>◆</a:t>
            </a:r>
          </a:p>
        </p:txBody>
      </p:sp>
      <p:sp>
        <p:nvSpPr>
          <p:cNvPr id="7" name="TextBox 6"/>
          <p:cNvSpPr txBox="1"/>
          <p:nvPr/>
        </p:nvSpPr>
        <p:spPr>
          <a:xfrm>
            <a:off x="594360" y="1481328"/>
            <a:ext cx="10863072" cy="365760"/>
          </a:xfrm>
          <a:prstGeom prst="rect">
            <a:avLst/>
          </a:prstGeom>
          <a:noFill/>
        </p:spPr>
        <p:txBody>
          <a:bodyPr wrap="square">
            <a:spAutoFit/>
          </a:bodyPr>
          <a:lstStyle/>
          <a:p>
            <a:pPr algn="l"/>
            <a:r>
              <a:rPr sz="1300" b="1">
                <a:solidFill>
                  <a:srgbClr val="1A3A6B"/>
                </a:solidFill>
              </a:rPr>
              <a:t>金融监管（Financial Regulation）的概念</a:t>
            </a:r>
          </a:p>
        </p:txBody>
      </p:sp>
      <p:sp>
        <p:nvSpPr>
          <p:cNvPr id="8" name="TextBox 7"/>
          <p:cNvSpPr txBox="1"/>
          <p:nvPr/>
        </p:nvSpPr>
        <p:spPr>
          <a:xfrm>
            <a:off x="640080" y="1883664"/>
            <a:ext cx="347472" cy="365760"/>
          </a:xfrm>
          <a:prstGeom prst="rect">
            <a:avLst/>
          </a:prstGeom>
          <a:noFill/>
        </p:spPr>
        <p:txBody>
          <a:bodyPr wrap="square">
            <a:spAutoFit/>
          </a:bodyPr>
          <a:lstStyle/>
          <a:p>
            <a:pPr algn="l"/>
            <a:r>
              <a:rPr sz="1100" b="0">
                <a:solidFill>
                  <a:srgbClr val="404040"/>
                </a:solidFill>
              </a:rPr>
              <a:t>▸</a:t>
            </a:r>
          </a:p>
        </p:txBody>
      </p:sp>
      <p:sp>
        <p:nvSpPr>
          <p:cNvPr id="9" name="TextBox 8"/>
          <p:cNvSpPr txBox="1"/>
          <p:nvPr/>
        </p:nvSpPr>
        <p:spPr>
          <a:xfrm>
            <a:off x="941832" y="1883664"/>
            <a:ext cx="10515600" cy="365760"/>
          </a:xfrm>
          <a:prstGeom prst="rect">
            <a:avLst/>
          </a:prstGeom>
          <a:noFill/>
        </p:spPr>
        <p:txBody>
          <a:bodyPr wrap="square">
            <a:spAutoFit/>
          </a:bodyPr>
          <a:lstStyle/>
          <a:p>
            <a:pPr algn="l"/>
            <a:r>
              <a:rPr sz="1100" b="0">
                <a:solidFill>
                  <a:srgbClr val="404040"/>
                </a:solidFill>
              </a:rPr>
              <a:t>广义：政府对金融业的全面干预与管理</a:t>
            </a:r>
          </a:p>
        </p:txBody>
      </p:sp>
      <p:sp>
        <p:nvSpPr>
          <p:cNvPr id="10" name="TextBox 9"/>
          <p:cNvSpPr txBox="1"/>
          <p:nvPr/>
        </p:nvSpPr>
        <p:spPr>
          <a:xfrm>
            <a:off x="640080" y="2240280"/>
            <a:ext cx="347472" cy="365760"/>
          </a:xfrm>
          <a:prstGeom prst="rect">
            <a:avLst/>
          </a:prstGeom>
          <a:noFill/>
        </p:spPr>
        <p:txBody>
          <a:bodyPr wrap="square">
            <a:spAutoFit/>
          </a:bodyPr>
          <a:lstStyle/>
          <a:p>
            <a:pPr algn="l"/>
            <a:r>
              <a:rPr sz="1100" b="0">
                <a:solidFill>
                  <a:srgbClr val="404040"/>
                </a:solidFill>
              </a:rPr>
              <a:t>▸</a:t>
            </a:r>
          </a:p>
        </p:txBody>
      </p:sp>
      <p:sp>
        <p:nvSpPr>
          <p:cNvPr id="11" name="TextBox 10"/>
          <p:cNvSpPr txBox="1"/>
          <p:nvPr/>
        </p:nvSpPr>
        <p:spPr>
          <a:xfrm>
            <a:off x="941832" y="2240280"/>
            <a:ext cx="10515600" cy="365760"/>
          </a:xfrm>
          <a:prstGeom prst="rect">
            <a:avLst/>
          </a:prstGeom>
          <a:noFill/>
        </p:spPr>
        <p:txBody>
          <a:bodyPr wrap="square">
            <a:spAutoFit/>
          </a:bodyPr>
          <a:lstStyle/>
          <a:p>
            <a:pPr algn="l"/>
            <a:r>
              <a:rPr sz="1100" b="0">
                <a:solidFill>
                  <a:srgbClr val="404040"/>
                </a:solidFill>
              </a:rPr>
              <a:t>狭义：审慎性监管与行为监管</a:t>
            </a:r>
          </a:p>
        </p:txBody>
      </p:sp>
      <p:sp>
        <p:nvSpPr>
          <p:cNvPr id="12" name="TextBox 11"/>
          <p:cNvSpPr txBox="1"/>
          <p:nvPr/>
        </p:nvSpPr>
        <p:spPr>
          <a:xfrm>
            <a:off x="292608" y="2596896"/>
            <a:ext cx="347472" cy="365760"/>
          </a:xfrm>
          <a:prstGeom prst="rect">
            <a:avLst/>
          </a:prstGeom>
          <a:noFill/>
        </p:spPr>
        <p:txBody>
          <a:bodyPr wrap="square">
            <a:spAutoFit/>
          </a:bodyPr>
          <a:lstStyle/>
          <a:p>
            <a:pPr algn="l"/>
            <a:r>
              <a:rPr sz="1300" b="1">
                <a:solidFill>
                  <a:srgbClr val="2E75B6"/>
                </a:solidFill>
              </a:rPr>
              <a:t>◆</a:t>
            </a:r>
          </a:p>
        </p:txBody>
      </p:sp>
      <p:sp>
        <p:nvSpPr>
          <p:cNvPr id="13" name="TextBox 12"/>
          <p:cNvSpPr txBox="1"/>
          <p:nvPr/>
        </p:nvSpPr>
        <p:spPr>
          <a:xfrm>
            <a:off x="594360" y="2596896"/>
            <a:ext cx="10863072" cy="365760"/>
          </a:xfrm>
          <a:prstGeom prst="rect">
            <a:avLst/>
          </a:prstGeom>
          <a:noFill/>
        </p:spPr>
        <p:txBody>
          <a:bodyPr wrap="square">
            <a:spAutoFit/>
          </a:bodyPr>
          <a:lstStyle/>
          <a:p>
            <a:pPr algn="l"/>
            <a:r>
              <a:rPr sz="1300" b="1">
                <a:solidFill>
                  <a:srgbClr val="1A3A6B"/>
                </a:solidFill>
              </a:rPr>
              <a:t>监管的主要手段：准入监管、行为监管、审慎监管</a:t>
            </a:r>
          </a:p>
        </p:txBody>
      </p:sp>
      <p:sp>
        <p:nvSpPr>
          <p:cNvPr id="14" name="TextBox 13"/>
          <p:cNvSpPr txBox="1"/>
          <p:nvPr/>
        </p:nvSpPr>
        <p:spPr>
          <a:xfrm>
            <a:off x="292608" y="2999232"/>
            <a:ext cx="347472" cy="365760"/>
          </a:xfrm>
          <a:prstGeom prst="rect">
            <a:avLst/>
          </a:prstGeom>
          <a:noFill/>
        </p:spPr>
        <p:txBody>
          <a:bodyPr wrap="square">
            <a:spAutoFit/>
          </a:bodyPr>
          <a:lstStyle/>
          <a:p>
            <a:pPr algn="l"/>
            <a:r>
              <a:rPr sz="1300" b="1">
                <a:solidFill>
                  <a:srgbClr val="2E75B6"/>
                </a:solidFill>
              </a:rPr>
              <a:t>◆</a:t>
            </a:r>
          </a:p>
        </p:txBody>
      </p:sp>
      <p:sp>
        <p:nvSpPr>
          <p:cNvPr id="15" name="TextBox 14"/>
          <p:cNvSpPr txBox="1"/>
          <p:nvPr/>
        </p:nvSpPr>
        <p:spPr>
          <a:xfrm>
            <a:off x="594360" y="2999232"/>
            <a:ext cx="10863072" cy="365760"/>
          </a:xfrm>
          <a:prstGeom prst="rect">
            <a:avLst/>
          </a:prstGeom>
          <a:noFill/>
        </p:spPr>
        <p:txBody>
          <a:bodyPr wrap="square">
            <a:spAutoFit/>
          </a:bodyPr>
          <a:lstStyle/>
          <a:p>
            <a:pPr algn="l"/>
            <a:r>
              <a:rPr sz="1300" b="1">
                <a:solidFill>
                  <a:srgbClr val="1A3A6B"/>
                </a:solidFill>
              </a:rPr>
              <a:t>监管与管理的区别：外部性与强制性</a:t>
            </a:r>
          </a:p>
        </p:txBody>
      </p:sp>
      <p:sp>
        <p:nvSpPr>
          <p:cNvPr id="16" name="TextBox 15"/>
          <p:cNvSpPr txBox="1"/>
          <p:nvPr/>
        </p:nvSpPr>
        <p:spPr>
          <a:xfrm>
            <a:off x="292608" y="3401568"/>
            <a:ext cx="347472" cy="365760"/>
          </a:xfrm>
          <a:prstGeom prst="rect">
            <a:avLst/>
          </a:prstGeom>
          <a:noFill/>
        </p:spPr>
        <p:txBody>
          <a:bodyPr wrap="square">
            <a:spAutoFit/>
          </a:bodyPr>
          <a:lstStyle/>
          <a:p>
            <a:pPr algn="l"/>
            <a:r>
              <a:rPr sz="1300" b="1">
                <a:solidFill>
                  <a:srgbClr val="2E75B6"/>
                </a:solidFill>
              </a:rPr>
              <a:t>◆</a:t>
            </a:r>
          </a:p>
        </p:txBody>
      </p:sp>
      <p:sp>
        <p:nvSpPr>
          <p:cNvPr id="17" name="TextBox 16"/>
          <p:cNvSpPr txBox="1"/>
          <p:nvPr/>
        </p:nvSpPr>
        <p:spPr>
          <a:xfrm>
            <a:off x="594360" y="3401568"/>
            <a:ext cx="10863072" cy="365760"/>
          </a:xfrm>
          <a:prstGeom prst="rect">
            <a:avLst/>
          </a:prstGeom>
          <a:noFill/>
        </p:spPr>
        <p:txBody>
          <a:bodyPr wrap="square">
            <a:spAutoFit/>
          </a:bodyPr>
          <a:lstStyle/>
          <a:p>
            <a:pPr algn="l"/>
            <a:r>
              <a:rPr sz="1300" b="1">
                <a:solidFill>
                  <a:srgbClr val="1A3A6B"/>
                </a:solidFill>
              </a:rPr>
              <a:t>金融监管的法律基础与权威来源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09728" cy="5577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91440"/>
            <a:ext cx="18288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182880" y="411480"/>
            <a:ext cx="11430000" cy="749808"/>
          </a:xfrm>
          <a:prstGeom prst="rect">
            <a:avLst/>
          </a:prstGeom>
          <a:noFill/>
        </p:spPr>
        <p:txBody>
          <a:bodyPr wrap="square">
            <a:spAutoFit/>
          </a:bodyPr>
          <a:lstStyle/>
          <a:p>
            <a:pPr algn="l"/>
            <a:r>
              <a:rPr sz="2400" b="1">
                <a:solidFill>
                  <a:srgbClr val="FFFFFF"/>
                </a:solidFill>
              </a:rPr>
              <a:t>金融监管的必要性</a:t>
            </a:r>
          </a:p>
        </p:txBody>
      </p:sp>
      <p:sp>
        <p:nvSpPr>
          <p:cNvPr id="6" name="TextBox 5"/>
          <p:cNvSpPr txBox="1"/>
          <p:nvPr/>
        </p:nvSpPr>
        <p:spPr>
          <a:xfrm>
            <a:off x="292608" y="1481328"/>
            <a:ext cx="347472" cy="365760"/>
          </a:xfrm>
          <a:prstGeom prst="rect">
            <a:avLst/>
          </a:prstGeom>
          <a:noFill/>
        </p:spPr>
        <p:txBody>
          <a:bodyPr wrap="square">
            <a:spAutoFit/>
          </a:bodyPr>
          <a:lstStyle/>
          <a:p>
            <a:pPr algn="l"/>
            <a:r>
              <a:rPr sz="1300" b="1">
                <a:solidFill>
                  <a:srgbClr val="2E75B6"/>
                </a:solidFill>
              </a:rPr>
              <a:t>◆</a:t>
            </a:r>
          </a:p>
        </p:txBody>
      </p:sp>
      <p:sp>
        <p:nvSpPr>
          <p:cNvPr id="7" name="TextBox 6"/>
          <p:cNvSpPr txBox="1"/>
          <p:nvPr/>
        </p:nvSpPr>
        <p:spPr>
          <a:xfrm>
            <a:off x="594360" y="1481328"/>
            <a:ext cx="10863072" cy="365760"/>
          </a:xfrm>
          <a:prstGeom prst="rect">
            <a:avLst/>
          </a:prstGeom>
          <a:noFill/>
        </p:spPr>
        <p:txBody>
          <a:bodyPr wrap="square">
            <a:spAutoFit/>
          </a:bodyPr>
          <a:lstStyle/>
          <a:p>
            <a:pPr algn="l"/>
            <a:r>
              <a:rPr sz="1300" b="1">
                <a:solidFill>
                  <a:srgbClr val="1A3A6B"/>
                </a:solidFill>
              </a:rPr>
              <a:t>市场失灵理论：信息不对称与外部性</a:t>
            </a:r>
          </a:p>
        </p:txBody>
      </p:sp>
      <p:sp>
        <p:nvSpPr>
          <p:cNvPr id="8" name="TextBox 7"/>
          <p:cNvSpPr txBox="1"/>
          <p:nvPr/>
        </p:nvSpPr>
        <p:spPr>
          <a:xfrm>
            <a:off x="640080" y="1883664"/>
            <a:ext cx="347472" cy="365760"/>
          </a:xfrm>
          <a:prstGeom prst="rect">
            <a:avLst/>
          </a:prstGeom>
          <a:noFill/>
        </p:spPr>
        <p:txBody>
          <a:bodyPr wrap="square">
            <a:spAutoFit/>
          </a:bodyPr>
          <a:lstStyle/>
          <a:p>
            <a:pPr algn="l"/>
            <a:r>
              <a:rPr sz="1100" b="0">
                <a:solidFill>
                  <a:srgbClr val="404040"/>
                </a:solidFill>
              </a:rPr>
              <a:t>▸</a:t>
            </a:r>
          </a:p>
        </p:txBody>
      </p:sp>
      <p:sp>
        <p:nvSpPr>
          <p:cNvPr id="9" name="TextBox 8"/>
          <p:cNvSpPr txBox="1"/>
          <p:nvPr/>
        </p:nvSpPr>
        <p:spPr>
          <a:xfrm>
            <a:off x="941832" y="1883664"/>
            <a:ext cx="10515600" cy="365760"/>
          </a:xfrm>
          <a:prstGeom prst="rect">
            <a:avLst/>
          </a:prstGeom>
          <a:noFill/>
        </p:spPr>
        <p:txBody>
          <a:bodyPr wrap="square">
            <a:spAutoFit/>
          </a:bodyPr>
          <a:lstStyle/>
          <a:p>
            <a:pPr algn="l"/>
            <a:r>
              <a:rPr sz="1100" b="0">
                <a:solidFill>
                  <a:srgbClr val="404040"/>
                </a:solidFill>
              </a:rPr>
              <a:t>逆向选择：借款人与贷款人信息不对称</a:t>
            </a:r>
          </a:p>
        </p:txBody>
      </p:sp>
      <p:sp>
        <p:nvSpPr>
          <p:cNvPr id="10" name="TextBox 9"/>
          <p:cNvSpPr txBox="1"/>
          <p:nvPr/>
        </p:nvSpPr>
        <p:spPr>
          <a:xfrm>
            <a:off x="640080" y="2240280"/>
            <a:ext cx="347472" cy="365760"/>
          </a:xfrm>
          <a:prstGeom prst="rect">
            <a:avLst/>
          </a:prstGeom>
          <a:noFill/>
        </p:spPr>
        <p:txBody>
          <a:bodyPr wrap="square">
            <a:spAutoFit/>
          </a:bodyPr>
          <a:lstStyle/>
          <a:p>
            <a:pPr algn="l"/>
            <a:r>
              <a:rPr sz="1100" b="0">
                <a:solidFill>
                  <a:srgbClr val="404040"/>
                </a:solidFill>
              </a:rPr>
              <a:t>▸</a:t>
            </a:r>
          </a:p>
        </p:txBody>
      </p:sp>
      <p:sp>
        <p:nvSpPr>
          <p:cNvPr id="11" name="TextBox 10"/>
          <p:cNvSpPr txBox="1"/>
          <p:nvPr/>
        </p:nvSpPr>
        <p:spPr>
          <a:xfrm>
            <a:off x="941832" y="2240280"/>
            <a:ext cx="10515600" cy="365760"/>
          </a:xfrm>
          <a:prstGeom prst="rect">
            <a:avLst/>
          </a:prstGeom>
          <a:noFill/>
        </p:spPr>
        <p:txBody>
          <a:bodyPr wrap="square">
            <a:spAutoFit/>
          </a:bodyPr>
          <a:lstStyle/>
          <a:p>
            <a:pPr algn="l"/>
            <a:r>
              <a:rPr sz="1100" b="0">
                <a:solidFill>
                  <a:srgbClr val="404040"/>
                </a:solidFill>
              </a:rPr>
              <a:t>道德风险：金融机构的冒险行为倾向</a:t>
            </a:r>
          </a:p>
        </p:txBody>
      </p:sp>
      <p:sp>
        <p:nvSpPr>
          <p:cNvPr id="12" name="TextBox 11"/>
          <p:cNvSpPr txBox="1"/>
          <p:nvPr/>
        </p:nvSpPr>
        <p:spPr>
          <a:xfrm>
            <a:off x="292608" y="2596896"/>
            <a:ext cx="347472" cy="365760"/>
          </a:xfrm>
          <a:prstGeom prst="rect">
            <a:avLst/>
          </a:prstGeom>
          <a:noFill/>
        </p:spPr>
        <p:txBody>
          <a:bodyPr wrap="square">
            <a:spAutoFit/>
          </a:bodyPr>
          <a:lstStyle/>
          <a:p>
            <a:pPr algn="l"/>
            <a:r>
              <a:rPr sz="1300" b="1">
                <a:solidFill>
                  <a:srgbClr val="2E75B6"/>
                </a:solidFill>
              </a:rPr>
              <a:t>◆</a:t>
            </a:r>
          </a:p>
        </p:txBody>
      </p:sp>
      <p:sp>
        <p:nvSpPr>
          <p:cNvPr id="13" name="TextBox 12"/>
          <p:cNvSpPr txBox="1"/>
          <p:nvPr/>
        </p:nvSpPr>
        <p:spPr>
          <a:xfrm>
            <a:off x="594360" y="2596896"/>
            <a:ext cx="10863072" cy="365760"/>
          </a:xfrm>
          <a:prstGeom prst="rect">
            <a:avLst/>
          </a:prstGeom>
          <a:noFill/>
        </p:spPr>
        <p:txBody>
          <a:bodyPr wrap="square">
            <a:spAutoFit/>
          </a:bodyPr>
          <a:lstStyle/>
          <a:p>
            <a:pPr algn="l"/>
            <a:r>
              <a:rPr sz="1300" b="1">
                <a:solidFill>
                  <a:srgbClr val="1A3A6B"/>
                </a:solidFill>
              </a:rPr>
              <a:t>系统性风险：金融机构的内在脆弱性</a:t>
            </a:r>
          </a:p>
        </p:txBody>
      </p:sp>
      <p:sp>
        <p:nvSpPr>
          <p:cNvPr id="14" name="TextBox 13"/>
          <p:cNvSpPr txBox="1"/>
          <p:nvPr/>
        </p:nvSpPr>
        <p:spPr>
          <a:xfrm>
            <a:off x="640080" y="2999232"/>
            <a:ext cx="347472" cy="365760"/>
          </a:xfrm>
          <a:prstGeom prst="rect">
            <a:avLst/>
          </a:prstGeom>
          <a:noFill/>
        </p:spPr>
        <p:txBody>
          <a:bodyPr wrap="square">
            <a:spAutoFit/>
          </a:bodyPr>
          <a:lstStyle/>
          <a:p>
            <a:pPr algn="l"/>
            <a:r>
              <a:rPr sz="1100" b="0">
                <a:solidFill>
                  <a:srgbClr val="404040"/>
                </a:solidFill>
              </a:rPr>
              <a:t>▸</a:t>
            </a:r>
          </a:p>
        </p:txBody>
      </p:sp>
      <p:sp>
        <p:nvSpPr>
          <p:cNvPr id="15" name="TextBox 14"/>
          <p:cNvSpPr txBox="1"/>
          <p:nvPr/>
        </p:nvSpPr>
        <p:spPr>
          <a:xfrm>
            <a:off x="941832" y="2999232"/>
            <a:ext cx="10515600" cy="365760"/>
          </a:xfrm>
          <a:prstGeom prst="rect">
            <a:avLst/>
          </a:prstGeom>
          <a:noFill/>
        </p:spPr>
        <p:txBody>
          <a:bodyPr wrap="square">
            <a:spAutoFit/>
          </a:bodyPr>
          <a:lstStyle/>
          <a:p>
            <a:pPr algn="l"/>
            <a:r>
              <a:rPr sz="1100" b="0">
                <a:solidFill>
                  <a:srgbClr val="404040"/>
                </a:solidFill>
              </a:rPr>
              <a:t>挤兑风险与流动性危机</a:t>
            </a:r>
          </a:p>
        </p:txBody>
      </p:sp>
      <p:sp>
        <p:nvSpPr>
          <p:cNvPr id="16" name="TextBox 15"/>
          <p:cNvSpPr txBox="1"/>
          <p:nvPr/>
        </p:nvSpPr>
        <p:spPr>
          <a:xfrm>
            <a:off x="640080" y="3355848"/>
            <a:ext cx="347472" cy="365760"/>
          </a:xfrm>
          <a:prstGeom prst="rect">
            <a:avLst/>
          </a:prstGeom>
          <a:noFill/>
        </p:spPr>
        <p:txBody>
          <a:bodyPr wrap="square">
            <a:spAutoFit/>
          </a:bodyPr>
          <a:lstStyle/>
          <a:p>
            <a:pPr algn="l"/>
            <a:r>
              <a:rPr sz="1100" b="0">
                <a:solidFill>
                  <a:srgbClr val="404040"/>
                </a:solidFill>
              </a:rPr>
              <a:t>▸</a:t>
            </a:r>
          </a:p>
        </p:txBody>
      </p:sp>
      <p:sp>
        <p:nvSpPr>
          <p:cNvPr id="17" name="TextBox 16"/>
          <p:cNvSpPr txBox="1"/>
          <p:nvPr/>
        </p:nvSpPr>
        <p:spPr>
          <a:xfrm>
            <a:off x="941832" y="3355848"/>
            <a:ext cx="10515600" cy="365760"/>
          </a:xfrm>
          <a:prstGeom prst="rect">
            <a:avLst/>
          </a:prstGeom>
          <a:noFill/>
        </p:spPr>
        <p:txBody>
          <a:bodyPr wrap="square">
            <a:spAutoFit/>
          </a:bodyPr>
          <a:lstStyle/>
          <a:p>
            <a:pPr algn="l"/>
            <a:r>
              <a:rPr sz="1100" b="0">
                <a:solidFill>
                  <a:srgbClr val="404040"/>
                </a:solidFill>
              </a:rPr>
              <a:t>传染效应与金融体系的网络脆弱性</a:t>
            </a:r>
          </a:p>
        </p:txBody>
      </p:sp>
      <p:sp>
        <p:nvSpPr>
          <p:cNvPr id="18" name="TextBox 17"/>
          <p:cNvSpPr txBox="1"/>
          <p:nvPr/>
        </p:nvSpPr>
        <p:spPr>
          <a:xfrm>
            <a:off x="292608" y="3712464"/>
            <a:ext cx="347472" cy="365760"/>
          </a:xfrm>
          <a:prstGeom prst="rect">
            <a:avLst/>
          </a:prstGeom>
          <a:noFill/>
        </p:spPr>
        <p:txBody>
          <a:bodyPr wrap="square">
            <a:spAutoFit/>
          </a:bodyPr>
          <a:lstStyle/>
          <a:p>
            <a:pPr algn="l"/>
            <a:r>
              <a:rPr sz="1300" b="1">
                <a:solidFill>
                  <a:srgbClr val="2E75B6"/>
                </a:solidFill>
              </a:rPr>
              <a:t>◆</a:t>
            </a:r>
          </a:p>
        </p:txBody>
      </p:sp>
      <p:sp>
        <p:nvSpPr>
          <p:cNvPr id="19" name="TextBox 18"/>
          <p:cNvSpPr txBox="1"/>
          <p:nvPr/>
        </p:nvSpPr>
        <p:spPr>
          <a:xfrm>
            <a:off x="594360" y="3712464"/>
            <a:ext cx="10863072" cy="365760"/>
          </a:xfrm>
          <a:prstGeom prst="rect">
            <a:avLst/>
          </a:prstGeom>
          <a:noFill/>
        </p:spPr>
        <p:txBody>
          <a:bodyPr wrap="square">
            <a:spAutoFit/>
          </a:bodyPr>
          <a:lstStyle/>
          <a:p>
            <a:pPr algn="l"/>
            <a:r>
              <a:rPr sz="1300" b="1">
                <a:solidFill>
                  <a:srgbClr val="1A3A6B"/>
                </a:solidFill>
              </a:rPr>
              <a:t>公共利益理论：保护存款人与投资者权益</a:t>
            </a:r>
          </a:p>
        </p:txBody>
      </p:sp>
      <p:sp>
        <p:nvSpPr>
          <p:cNvPr id="20" name="TextBox 19"/>
          <p:cNvSpPr txBox="1"/>
          <p:nvPr/>
        </p:nvSpPr>
        <p:spPr>
          <a:xfrm>
            <a:off x="292608" y="4114800"/>
            <a:ext cx="347472" cy="365760"/>
          </a:xfrm>
          <a:prstGeom prst="rect">
            <a:avLst/>
          </a:prstGeom>
          <a:noFill/>
        </p:spPr>
        <p:txBody>
          <a:bodyPr wrap="square">
            <a:spAutoFit/>
          </a:bodyPr>
          <a:lstStyle/>
          <a:p>
            <a:pPr algn="l"/>
            <a:r>
              <a:rPr sz="1300" b="1">
                <a:solidFill>
                  <a:srgbClr val="2E75B6"/>
                </a:solidFill>
              </a:rPr>
              <a:t>◆</a:t>
            </a:r>
          </a:p>
        </p:txBody>
      </p:sp>
      <p:sp>
        <p:nvSpPr>
          <p:cNvPr id="21" name="TextBox 20"/>
          <p:cNvSpPr txBox="1"/>
          <p:nvPr/>
        </p:nvSpPr>
        <p:spPr>
          <a:xfrm>
            <a:off x="594360" y="4114800"/>
            <a:ext cx="10863072" cy="365760"/>
          </a:xfrm>
          <a:prstGeom prst="rect">
            <a:avLst/>
          </a:prstGeom>
          <a:noFill/>
        </p:spPr>
        <p:txBody>
          <a:bodyPr wrap="square">
            <a:spAutoFit/>
          </a:bodyPr>
          <a:lstStyle/>
          <a:p>
            <a:pPr algn="l"/>
            <a:r>
              <a:rPr sz="1300" b="1">
                <a:solidFill>
                  <a:srgbClr val="1A3A6B"/>
                </a:solidFill>
              </a:rPr>
              <a:t>竞争秩序维护：防止垄断与不公平竞争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09728" cy="5577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91440"/>
            <a:ext cx="18288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182880" y="411480"/>
            <a:ext cx="11430000" cy="749808"/>
          </a:xfrm>
          <a:prstGeom prst="rect">
            <a:avLst/>
          </a:prstGeom>
          <a:noFill/>
        </p:spPr>
        <p:txBody>
          <a:bodyPr wrap="square">
            <a:spAutoFit/>
          </a:bodyPr>
          <a:lstStyle/>
          <a:p>
            <a:pPr algn="l"/>
            <a:r>
              <a:rPr sz="2400" b="1">
                <a:solidFill>
                  <a:srgbClr val="FFFFFF"/>
                </a:solidFill>
              </a:rPr>
              <a:t>金融监管的目标体系</a:t>
            </a:r>
          </a:p>
        </p:txBody>
      </p:sp>
      <p:sp>
        <p:nvSpPr>
          <p:cNvPr id="6" name="TextBox 5"/>
          <p:cNvSpPr txBox="1"/>
          <p:nvPr/>
        </p:nvSpPr>
        <p:spPr>
          <a:xfrm>
            <a:off x="292608" y="1481328"/>
            <a:ext cx="347472" cy="365760"/>
          </a:xfrm>
          <a:prstGeom prst="rect">
            <a:avLst/>
          </a:prstGeom>
          <a:noFill/>
        </p:spPr>
        <p:txBody>
          <a:bodyPr wrap="square">
            <a:spAutoFit/>
          </a:bodyPr>
          <a:lstStyle/>
          <a:p>
            <a:pPr algn="l"/>
            <a:r>
              <a:rPr sz="1300" b="1">
                <a:solidFill>
                  <a:srgbClr val="2E75B6"/>
                </a:solidFill>
              </a:rPr>
              <a:t>◆</a:t>
            </a:r>
          </a:p>
        </p:txBody>
      </p:sp>
      <p:sp>
        <p:nvSpPr>
          <p:cNvPr id="7" name="TextBox 6"/>
          <p:cNvSpPr txBox="1"/>
          <p:nvPr/>
        </p:nvSpPr>
        <p:spPr>
          <a:xfrm>
            <a:off x="594360" y="1481328"/>
            <a:ext cx="10863072" cy="365760"/>
          </a:xfrm>
          <a:prstGeom prst="rect">
            <a:avLst/>
          </a:prstGeom>
          <a:noFill/>
        </p:spPr>
        <p:txBody>
          <a:bodyPr wrap="square">
            <a:spAutoFit/>
          </a:bodyPr>
          <a:lstStyle/>
          <a:p>
            <a:pPr algn="l"/>
            <a:r>
              <a:rPr sz="1300" b="1">
                <a:solidFill>
                  <a:srgbClr val="1A3A6B"/>
                </a:solidFill>
              </a:rPr>
              <a:t>宏观审慎目标：维护金融系统稳定</a:t>
            </a:r>
          </a:p>
        </p:txBody>
      </p:sp>
      <p:sp>
        <p:nvSpPr>
          <p:cNvPr id="8" name="TextBox 7"/>
          <p:cNvSpPr txBox="1"/>
          <p:nvPr/>
        </p:nvSpPr>
        <p:spPr>
          <a:xfrm>
            <a:off x="292608" y="1883664"/>
            <a:ext cx="347472" cy="365760"/>
          </a:xfrm>
          <a:prstGeom prst="rect">
            <a:avLst/>
          </a:prstGeom>
          <a:noFill/>
        </p:spPr>
        <p:txBody>
          <a:bodyPr wrap="square">
            <a:spAutoFit/>
          </a:bodyPr>
          <a:lstStyle/>
          <a:p>
            <a:pPr algn="l"/>
            <a:r>
              <a:rPr sz="1300" b="1">
                <a:solidFill>
                  <a:srgbClr val="2E75B6"/>
                </a:solidFill>
              </a:rPr>
              <a:t>◆</a:t>
            </a:r>
          </a:p>
        </p:txBody>
      </p:sp>
      <p:sp>
        <p:nvSpPr>
          <p:cNvPr id="9" name="TextBox 8"/>
          <p:cNvSpPr txBox="1"/>
          <p:nvPr/>
        </p:nvSpPr>
        <p:spPr>
          <a:xfrm>
            <a:off x="594360" y="1883664"/>
            <a:ext cx="10863072" cy="365760"/>
          </a:xfrm>
          <a:prstGeom prst="rect">
            <a:avLst/>
          </a:prstGeom>
          <a:noFill/>
        </p:spPr>
        <p:txBody>
          <a:bodyPr wrap="square">
            <a:spAutoFit/>
          </a:bodyPr>
          <a:lstStyle/>
          <a:p>
            <a:pPr algn="l"/>
            <a:r>
              <a:rPr sz="1300" b="1">
                <a:solidFill>
                  <a:srgbClr val="1A3A6B"/>
                </a:solidFill>
              </a:rPr>
              <a:t>微观审慎目标：保护个体金融机构健全</a:t>
            </a:r>
          </a:p>
        </p:txBody>
      </p:sp>
      <p:sp>
        <p:nvSpPr>
          <p:cNvPr id="10" name="TextBox 9"/>
          <p:cNvSpPr txBox="1"/>
          <p:nvPr/>
        </p:nvSpPr>
        <p:spPr>
          <a:xfrm>
            <a:off x="292608" y="2286000"/>
            <a:ext cx="347472" cy="365760"/>
          </a:xfrm>
          <a:prstGeom prst="rect">
            <a:avLst/>
          </a:prstGeom>
          <a:noFill/>
        </p:spPr>
        <p:txBody>
          <a:bodyPr wrap="square">
            <a:spAutoFit/>
          </a:bodyPr>
          <a:lstStyle/>
          <a:p>
            <a:pPr algn="l"/>
            <a:r>
              <a:rPr sz="1300" b="1">
                <a:solidFill>
                  <a:srgbClr val="2E75B6"/>
                </a:solidFill>
              </a:rPr>
              <a:t>◆</a:t>
            </a:r>
          </a:p>
        </p:txBody>
      </p:sp>
      <p:sp>
        <p:nvSpPr>
          <p:cNvPr id="11" name="TextBox 10"/>
          <p:cNvSpPr txBox="1"/>
          <p:nvPr/>
        </p:nvSpPr>
        <p:spPr>
          <a:xfrm>
            <a:off x="594360" y="2286000"/>
            <a:ext cx="10863072" cy="365760"/>
          </a:xfrm>
          <a:prstGeom prst="rect">
            <a:avLst/>
          </a:prstGeom>
          <a:noFill/>
        </p:spPr>
        <p:txBody>
          <a:bodyPr wrap="square">
            <a:spAutoFit/>
          </a:bodyPr>
          <a:lstStyle/>
          <a:p>
            <a:pPr algn="l"/>
            <a:r>
              <a:rPr sz="1300" b="1">
                <a:solidFill>
                  <a:srgbClr val="1A3A6B"/>
                </a:solidFill>
              </a:rPr>
              <a:t>消费者保护目标：金融消费者权益保障</a:t>
            </a:r>
          </a:p>
        </p:txBody>
      </p:sp>
      <p:sp>
        <p:nvSpPr>
          <p:cNvPr id="12" name="TextBox 11"/>
          <p:cNvSpPr txBox="1"/>
          <p:nvPr/>
        </p:nvSpPr>
        <p:spPr>
          <a:xfrm>
            <a:off x="292608" y="2688336"/>
            <a:ext cx="347472" cy="365760"/>
          </a:xfrm>
          <a:prstGeom prst="rect">
            <a:avLst/>
          </a:prstGeom>
          <a:noFill/>
        </p:spPr>
        <p:txBody>
          <a:bodyPr wrap="square">
            <a:spAutoFit/>
          </a:bodyPr>
          <a:lstStyle/>
          <a:p>
            <a:pPr algn="l"/>
            <a:r>
              <a:rPr sz="1300" b="1">
                <a:solidFill>
                  <a:srgbClr val="2E75B6"/>
                </a:solidFill>
              </a:rPr>
              <a:t>◆</a:t>
            </a:r>
          </a:p>
        </p:txBody>
      </p:sp>
      <p:sp>
        <p:nvSpPr>
          <p:cNvPr id="13" name="TextBox 12"/>
          <p:cNvSpPr txBox="1"/>
          <p:nvPr/>
        </p:nvSpPr>
        <p:spPr>
          <a:xfrm>
            <a:off x="594360" y="2688336"/>
            <a:ext cx="10863072" cy="365760"/>
          </a:xfrm>
          <a:prstGeom prst="rect">
            <a:avLst/>
          </a:prstGeom>
          <a:noFill/>
        </p:spPr>
        <p:txBody>
          <a:bodyPr wrap="square">
            <a:spAutoFit/>
          </a:bodyPr>
          <a:lstStyle/>
          <a:p>
            <a:pPr algn="l"/>
            <a:r>
              <a:rPr sz="1300" b="1">
                <a:solidFill>
                  <a:srgbClr val="1A3A6B"/>
                </a:solidFill>
              </a:rPr>
              <a:t>市场效率目标：促进公平竞争</a:t>
            </a:r>
          </a:p>
        </p:txBody>
      </p:sp>
      <p:sp>
        <p:nvSpPr>
          <p:cNvPr id="14" name="TextBox 13"/>
          <p:cNvSpPr txBox="1"/>
          <p:nvPr/>
        </p:nvSpPr>
        <p:spPr>
          <a:xfrm>
            <a:off x="292608" y="3090672"/>
            <a:ext cx="347472" cy="365760"/>
          </a:xfrm>
          <a:prstGeom prst="rect">
            <a:avLst/>
          </a:prstGeom>
          <a:noFill/>
        </p:spPr>
        <p:txBody>
          <a:bodyPr wrap="square">
            <a:spAutoFit/>
          </a:bodyPr>
          <a:lstStyle/>
          <a:p>
            <a:pPr algn="l"/>
            <a:r>
              <a:rPr sz="1300" b="1">
                <a:solidFill>
                  <a:srgbClr val="2E75B6"/>
                </a:solidFill>
              </a:rPr>
              <a:t>◆</a:t>
            </a:r>
          </a:p>
        </p:txBody>
      </p:sp>
      <p:sp>
        <p:nvSpPr>
          <p:cNvPr id="15" name="TextBox 14"/>
          <p:cNvSpPr txBox="1"/>
          <p:nvPr/>
        </p:nvSpPr>
        <p:spPr>
          <a:xfrm>
            <a:off x="594360" y="3090672"/>
            <a:ext cx="10863072" cy="365760"/>
          </a:xfrm>
          <a:prstGeom prst="rect">
            <a:avLst/>
          </a:prstGeom>
          <a:noFill/>
        </p:spPr>
        <p:txBody>
          <a:bodyPr wrap="square">
            <a:spAutoFit/>
          </a:bodyPr>
          <a:lstStyle/>
          <a:p>
            <a:pPr algn="l"/>
            <a:r>
              <a:rPr sz="1300" b="1">
                <a:solidFill>
                  <a:srgbClr val="1A3A6B"/>
                </a:solidFill>
              </a:rPr>
              <a:t>目标之间的协调与权衡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09728" cy="5577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91440"/>
            <a:ext cx="1828800" cy="411480"/>
          </a:xfrm>
          <a:prstGeom prst="rect">
            <a:avLst/>
          </a:prstGeom>
          <a:noFill/>
        </p:spPr>
        <p:txBody>
          <a:bodyPr wrap="square">
            <a:spAutoFit/>
          </a:bodyPr>
          <a:lstStyle/>
          <a:p>
            <a:pPr algn="l"/>
            <a:r>
              <a:rPr sz="1100" b="1">
                <a:solidFill>
                  <a:srgbClr val="D4AC0D"/>
                </a:solidFill>
              </a:rPr>
              <a:t>第一章</a:t>
            </a:r>
          </a:p>
        </p:txBody>
      </p:sp>
      <p:sp>
        <p:nvSpPr>
          <p:cNvPr id="5" name="TextBox 4"/>
          <p:cNvSpPr txBox="1"/>
          <p:nvPr/>
        </p:nvSpPr>
        <p:spPr>
          <a:xfrm>
            <a:off x="182880" y="411480"/>
            <a:ext cx="11430000" cy="749808"/>
          </a:xfrm>
          <a:prstGeom prst="rect">
            <a:avLst/>
          </a:prstGeom>
          <a:noFill/>
        </p:spPr>
        <p:txBody>
          <a:bodyPr wrap="square">
            <a:spAutoFit/>
          </a:bodyPr>
          <a:lstStyle/>
          <a:p>
            <a:pPr algn="l"/>
            <a:r>
              <a:rPr sz="2400" b="1">
                <a:solidFill>
                  <a:srgbClr val="FFFFFF"/>
                </a:solidFill>
              </a:rPr>
              <a:t>金融监管体制的国际比较</a:t>
            </a:r>
          </a:p>
        </p:txBody>
      </p:sp>
      <p:sp>
        <p:nvSpPr>
          <p:cNvPr id="6" name="TextBox 5"/>
          <p:cNvSpPr txBox="1"/>
          <p:nvPr/>
        </p:nvSpPr>
        <p:spPr>
          <a:xfrm>
            <a:off x="292608" y="1481328"/>
            <a:ext cx="347472" cy="365760"/>
          </a:xfrm>
          <a:prstGeom prst="rect">
            <a:avLst/>
          </a:prstGeom>
          <a:noFill/>
        </p:spPr>
        <p:txBody>
          <a:bodyPr wrap="square">
            <a:spAutoFit/>
          </a:bodyPr>
          <a:lstStyle/>
          <a:p>
            <a:pPr algn="l"/>
            <a:r>
              <a:rPr sz="1300" b="1">
                <a:solidFill>
                  <a:srgbClr val="2E75B6"/>
                </a:solidFill>
              </a:rPr>
              <a:t>◆</a:t>
            </a:r>
          </a:p>
        </p:txBody>
      </p:sp>
      <p:sp>
        <p:nvSpPr>
          <p:cNvPr id="7" name="TextBox 6"/>
          <p:cNvSpPr txBox="1"/>
          <p:nvPr/>
        </p:nvSpPr>
        <p:spPr>
          <a:xfrm>
            <a:off x="594360" y="1481328"/>
            <a:ext cx="10863072" cy="365760"/>
          </a:xfrm>
          <a:prstGeom prst="rect">
            <a:avLst/>
          </a:prstGeom>
          <a:noFill/>
        </p:spPr>
        <p:txBody>
          <a:bodyPr wrap="square">
            <a:spAutoFit/>
          </a:bodyPr>
          <a:lstStyle/>
          <a:p>
            <a:pPr algn="l"/>
            <a:r>
              <a:rPr sz="1300" b="1">
                <a:solidFill>
                  <a:srgbClr val="1A3A6B"/>
                </a:solidFill>
              </a:rPr>
              <a:t>单一监管模式（英国FCA/PRA双峰模式）</a:t>
            </a:r>
          </a:p>
        </p:txBody>
      </p:sp>
      <p:sp>
        <p:nvSpPr>
          <p:cNvPr id="8" name="TextBox 7"/>
          <p:cNvSpPr txBox="1"/>
          <p:nvPr/>
        </p:nvSpPr>
        <p:spPr>
          <a:xfrm>
            <a:off x="292608" y="1883664"/>
            <a:ext cx="347472" cy="365760"/>
          </a:xfrm>
          <a:prstGeom prst="rect">
            <a:avLst/>
          </a:prstGeom>
          <a:noFill/>
        </p:spPr>
        <p:txBody>
          <a:bodyPr wrap="square">
            <a:spAutoFit/>
          </a:bodyPr>
          <a:lstStyle/>
          <a:p>
            <a:pPr algn="l"/>
            <a:r>
              <a:rPr sz="1300" b="1">
                <a:solidFill>
                  <a:srgbClr val="2E75B6"/>
                </a:solidFill>
              </a:rPr>
              <a:t>◆</a:t>
            </a:r>
          </a:p>
        </p:txBody>
      </p:sp>
      <p:sp>
        <p:nvSpPr>
          <p:cNvPr id="9" name="TextBox 8"/>
          <p:cNvSpPr txBox="1"/>
          <p:nvPr/>
        </p:nvSpPr>
        <p:spPr>
          <a:xfrm>
            <a:off x="594360" y="1883664"/>
            <a:ext cx="10863072" cy="365760"/>
          </a:xfrm>
          <a:prstGeom prst="rect">
            <a:avLst/>
          </a:prstGeom>
          <a:noFill/>
        </p:spPr>
        <p:txBody>
          <a:bodyPr wrap="square">
            <a:spAutoFit/>
          </a:bodyPr>
          <a:lstStyle/>
          <a:p>
            <a:pPr algn="l"/>
            <a:r>
              <a:rPr sz="1300" b="1">
                <a:solidFill>
                  <a:srgbClr val="1A3A6B"/>
                </a:solidFill>
              </a:rPr>
              <a:t>多头监管模式（美国分散化监管体系）</a:t>
            </a:r>
          </a:p>
        </p:txBody>
      </p:sp>
      <p:sp>
        <p:nvSpPr>
          <p:cNvPr id="10" name="TextBox 9"/>
          <p:cNvSpPr txBox="1"/>
          <p:nvPr/>
        </p:nvSpPr>
        <p:spPr>
          <a:xfrm>
            <a:off x="292608" y="2286000"/>
            <a:ext cx="347472" cy="365760"/>
          </a:xfrm>
          <a:prstGeom prst="rect">
            <a:avLst/>
          </a:prstGeom>
          <a:noFill/>
        </p:spPr>
        <p:txBody>
          <a:bodyPr wrap="square">
            <a:spAutoFit/>
          </a:bodyPr>
          <a:lstStyle/>
          <a:p>
            <a:pPr algn="l"/>
            <a:r>
              <a:rPr sz="1300" b="1">
                <a:solidFill>
                  <a:srgbClr val="2E75B6"/>
                </a:solidFill>
              </a:rPr>
              <a:t>◆</a:t>
            </a:r>
          </a:p>
        </p:txBody>
      </p:sp>
      <p:sp>
        <p:nvSpPr>
          <p:cNvPr id="11" name="TextBox 10"/>
          <p:cNvSpPr txBox="1"/>
          <p:nvPr/>
        </p:nvSpPr>
        <p:spPr>
          <a:xfrm>
            <a:off x="594360" y="2286000"/>
            <a:ext cx="10863072" cy="365760"/>
          </a:xfrm>
          <a:prstGeom prst="rect">
            <a:avLst/>
          </a:prstGeom>
          <a:noFill/>
        </p:spPr>
        <p:txBody>
          <a:bodyPr wrap="square">
            <a:spAutoFit/>
          </a:bodyPr>
          <a:lstStyle/>
          <a:p>
            <a:pPr algn="l"/>
            <a:r>
              <a:rPr sz="1300" b="1">
                <a:solidFill>
                  <a:srgbClr val="1A3A6B"/>
                </a:solidFill>
              </a:rPr>
              <a:t>伞形监管模式（德国联邦金融监管局）</a:t>
            </a:r>
          </a:p>
        </p:txBody>
      </p:sp>
      <p:sp>
        <p:nvSpPr>
          <p:cNvPr id="12" name="TextBox 11"/>
          <p:cNvSpPr txBox="1"/>
          <p:nvPr/>
        </p:nvSpPr>
        <p:spPr>
          <a:xfrm>
            <a:off x="292608" y="2688336"/>
            <a:ext cx="347472" cy="365760"/>
          </a:xfrm>
          <a:prstGeom prst="rect">
            <a:avLst/>
          </a:prstGeom>
          <a:noFill/>
        </p:spPr>
        <p:txBody>
          <a:bodyPr wrap="square">
            <a:spAutoFit/>
          </a:bodyPr>
          <a:lstStyle/>
          <a:p>
            <a:pPr algn="l"/>
            <a:r>
              <a:rPr sz="1300" b="1">
                <a:solidFill>
                  <a:srgbClr val="2E75B6"/>
                </a:solidFill>
              </a:rPr>
              <a:t>◆</a:t>
            </a:r>
          </a:p>
        </p:txBody>
      </p:sp>
      <p:sp>
        <p:nvSpPr>
          <p:cNvPr id="13" name="TextBox 12"/>
          <p:cNvSpPr txBox="1"/>
          <p:nvPr/>
        </p:nvSpPr>
        <p:spPr>
          <a:xfrm>
            <a:off x="594360" y="2688336"/>
            <a:ext cx="10863072" cy="365760"/>
          </a:xfrm>
          <a:prstGeom prst="rect">
            <a:avLst/>
          </a:prstGeom>
          <a:noFill/>
        </p:spPr>
        <p:txBody>
          <a:bodyPr wrap="square">
            <a:spAutoFit/>
          </a:bodyPr>
          <a:lstStyle/>
          <a:p>
            <a:pPr algn="l"/>
            <a:r>
              <a:rPr sz="1300" b="1">
                <a:solidFill>
                  <a:srgbClr val="1A3A6B"/>
                </a:solidFill>
              </a:rPr>
              <a:t>功能性监管与机构性监管的比较</a:t>
            </a:r>
          </a:p>
        </p:txBody>
      </p:sp>
      <p:sp>
        <p:nvSpPr>
          <p:cNvPr id="14" name="TextBox 13"/>
          <p:cNvSpPr txBox="1"/>
          <p:nvPr/>
        </p:nvSpPr>
        <p:spPr>
          <a:xfrm>
            <a:off x="292608" y="3090672"/>
            <a:ext cx="347472" cy="365760"/>
          </a:xfrm>
          <a:prstGeom prst="rect">
            <a:avLst/>
          </a:prstGeom>
          <a:noFill/>
        </p:spPr>
        <p:txBody>
          <a:bodyPr wrap="square">
            <a:spAutoFit/>
          </a:bodyPr>
          <a:lstStyle/>
          <a:p>
            <a:pPr algn="l"/>
            <a:r>
              <a:rPr sz="1300" b="1">
                <a:solidFill>
                  <a:srgbClr val="2E75B6"/>
                </a:solidFill>
              </a:rPr>
              <a:t>◆</a:t>
            </a:r>
          </a:p>
        </p:txBody>
      </p:sp>
      <p:sp>
        <p:nvSpPr>
          <p:cNvPr id="15" name="TextBox 14"/>
          <p:cNvSpPr txBox="1"/>
          <p:nvPr/>
        </p:nvSpPr>
        <p:spPr>
          <a:xfrm>
            <a:off x="594360" y="3090672"/>
            <a:ext cx="10863072" cy="365760"/>
          </a:xfrm>
          <a:prstGeom prst="rect">
            <a:avLst/>
          </a:prstGeom>
          <a:noFill/>
        </p:spPr>
        <p:txBody>
          <a:bodyPr wrap="square">
            <a:spAutoFit/>
          </a:bodyPr>
          <a:lstStyle/>
          <a:p>
            <a:pPr algn="l"/>
            <a:r>
              <a:rPr sz="1300" b="1">
                <a:solidFill>
                  <a:srgbClr val="1A3A6B"/>
                </a:solidFill>
              </a:rPr>
              <a:t>中国从一行两会到一行一局一会的演变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54864"/>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7315200" cy="384048"/>
          </a:xfrm>
          <a:prstGeom prst="rect">
            <a:avLst/>
          </a:prstGeom>
          <a:noFill/>
        </p:spPr>
        <p:txBody>
          <a:bodyPr wrap="square">
            <a:spAutoFit/>
          </a:bodyPr>
          <a:lstStyle/>
          <a:p>
            <a:pPr algn="l"/>
            <a:r>
              <a:rPr sz="1200" b="1">
                <a:solidFill>
                  <a:srgbClr val="D4AC0D"/>
                </a:solidFill>
              </a:rPr>
              <a:t>第一章  |  案例分析</a:t>
            </a:r>
          </a:p>
        </p:txBody>
      </p:sp>
      <p:sp>
        <p:nvSpPr>
          <p:cNvPr id="5" name="TextBox 4"/>
          <p:cNvSpPr txBox="1"/>
          <p:nvPr/>
        </p:nvSpPr>
        <p:spPr>
          <a:xfrm>
            <a:off x="274320" y="457200"/>
            <a:ext cx="11430000" cy="713232"/>
          </a:xfrm>
          <a:prstGeom prst="rect">
            <a:avLst/>
          </a:prstGeom>
          <a:noFill/>
        </p:spPr>
        <p:txBody>
          <a:bodyPr wrap="square">
            <a:spAutoFit/>
          </a:bodyPr>
          <a:lstStyle/>
          <a:p>
            <a:pPr algn="l"/>
            <a:r>
              <a:rPr sz="2400" b="1">
                <a:solidFill>
                  <a:srgbClr val="FFFFFF"/>
                </a:solidFill>
              </a:rPr>
              <a:t>2008年全球金融危机与监管反思</a:t>
            </a:r>
          </a:p>
        </p:txBody>
      </p:sp>
      <p:sp>
        <p:nvSpPr>
          <p:cNvPr id="6" name="Rectangle 5"/>
          <p:cNvSpPr/>
          <p:nvPr/>
        </p:nvSpPr>
        <p:spPr>
          <a:xfrm>
            <a:off x="274320" y="1481328"/>
            <a:ext cx="11612880" cy="2084831"/>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81328"/>
            <a:ext cx="73152" cy="2084831"/>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17904"/>
            <a:ext cx="2743200" cy="347472"/>
          </a:xfrm>
          <a:prstGeom prst="rect">
            <a:avLst/>
          </a:prstGeom>
          <a:noFill/>
        </p:spPr>
        <p:txBody>
          <a:bodyPr wrap="square">
            <a:spAutoFit/>
          </a:bodyPr>
          <a:lstStyle/>
          <a:p>
            <a:pPr algn="l"/>
            <a:r>
              <a:rPr sz="1300" b="1">
                <a:solidFill>
                  <a:srgbClr val="C0392B"/>
                </a:solidFill>
              </a:rPr>
              <a:t>【案例背景】</a:t>
            </a:r>
          </a:p>
        </p:txBody>
      </p:sp>
      <p:sp>
        <p:nvSpPr>
          <p:cNvPr id="9" name="TextBox 8"/>
          <p:cNvSpPr txBox="1"/>
          <p:nvPr/>
        </p:nvSpPr>
        <p:spPr>
          <a:xfrm>
            <a:off x="502920" y="1874519"/>
            <a:ext cx="11247120" cy="1627632"/>
          </a:xfrm>
          <a:prstGeom prst="rect">
            <a:avLst/>
          </a:prstGeom>
          <a:noFill/>
        </p:spPr>
        <p:txBody>
          <a:bodyPr wrap="square">
            <a:spAutoFit/>
          </a:bodyPr>
          <a:lstStyle/>
          <a:p>
            <a:pPr algn="l"/>
            <a:r>
              <a:rPr sz="1200" b="0">
                <a:solidFill>
                  <a:srgbClr val="404040"/>
                </a:solidFill>
              </a:rPr>
              <a:t>2008年，以雷曼兄弟破产为标志的全球金融危机深刻揭示了金融监管的系统性缺陷。危机前，影子银行大规模扩张，表外资产积聚，监管套利盛行，各监管机构之间存在严重的信息壁垒与协调失灵。危机后，巴塞尔委员会推出《巴塞尔协议III》，各国纷纷强化宏观审慎监管框架。</a:t>
            </a:r>
          </a:p>
        </p:txBody>
      </p:sp>
      <p:sp>
        <p:nvSpPr>
          <p:cNvPr id="10" name="TextBox 9"/>
          <p:cNvSpPr txBox="1"/>
          <p:nvPr/>
        </p:nvSpPr>
        <p:spPr>
          <a:xfrm>
            <a:off x="274320" y="3712463"/>
            <a:ext cx="2743200" cy="347472"/>
          </a:xfrm>
          <a:prstGeom prst="rect">
            <a:avLst/>
          </a:prstGeom>
          <a:noFill/>
        </p:spPr>
        <p:txBody>
          <a:bodyPr wrap="square">
            <a:spAutoFit/>
          </a:bodyPr>
          <a:lstStyle/>
          <a:p>
            <a:pPr algn="l"/>
            <a:r>
              <a:rPr sz="1300" b="1">
                <a:solidFill>
                  <a:srgbClr val="1A3A6B"/>
                </a:solidFill>
              </a:rPr>
              <a:t>【案例分析】</a:t>
            </a:r>
          </a:p>
        </p:txBody>
      </p:sp>
      <p:sp>
        <p:nvSpPr>
          <p:cNvPr id="11" name="TextBox 10"/>
          <p:cNvSpPr txBox="1"/>
          <p:nvPr/>
        </p:nvSpPr>
        <p:spPr>
          <a:xfrm>
            <a:off x="365760" y="4114800"/>
            <a:ext cx="11430000" cy="365760"/>
          </a:xfrm>
          <a:prstGeom prst="rect">
            <a:avLst/>
          </a:prstGeom>
          <a:noFill/>
        </p:spPr>
        <p:txBody>
          <a:bodyPr wrap="square">
            <a:spAutoFit/>
          </a:bodyPr>
          <a:lstStyle/>
          <a:p>
            <a:pPr algn="l"/>
            <a:r>
              <a:rPr sz="1200" b="0">
                <a:solidFill>
                  <a:srgbClr val="1A3A6B"/>
                </a:solidFill>
              </a:rPr>
              <a:t>▸  监管失灵的根源：分业监管无法应对混业经营的系统性风险</a:t>
            </a:r>
          </a:p>
        </p:txBody>
      </p:sp>
      <p:sp>
        <p:nvSpPr>
          <p:cNvPr id="12" name="TextBox 11"/>
          <p:cNvSpPr txBox="1"/>
          <p:nvPr/>
        </p:nvSpPr>
        <p:spPr>
          <a:xfrm>
            <a:off x="365760" y="4498848"/>
            <a:ext cx="11430000" cy="365760"/>
          </a:xfrm>
          <a:prstGeom prst="rect">
            <a:avLst/>
          </a:prstGeom>
          <a:noFill/>
        </p:spPr>
        <p:txBody>
          <a:bodyPr wrap="square">
            <a:spAutoFit/>
          </a:bodyPr>
          <a:lstStyle/>
          <a:p>
            <a:pPr algn="l"/>
            <a:r>
              <a:rPr sz="1200" b="0">
                <a:solidFill>
                  <a:srgbClr val="1A3A6B"/>
                </a:solidFill>
              </a:rPr>
              <a:t>▸  信息不对称的放大：复杂金融产品（CDO、CDS）难以有效评估</a:t>
            </a:r>
          </a:p>
        </p:txBody>
      </p:sp>
      <p:sp>
        <p:nvSpPr>
          <p:cNvPr id="13" name="TextBox 12"/>
          <p:cNvSpPr txBox="1"/>
          <p:nvPr/>
        </p:nvSpPr>
        <p:spPr>
          <a:xfrm>
            <a:off x="365760" y="4882896"/>
            <a:ext cx="11430000" cy="365760"/>
          </a:xfrm>
          <a:prstGeom prst="rect">
            <a:avLst/>
          </a:prstGeom>
          <a:noFill/>
        </p:spPr>
        <p:txBody>
          <a:bodyPr wrap="square">
            <a:spAutoFit/>
          </a:bodyPr>
          <a:lstStyle/>
          <a:p>
            <a:pPr algn="l"/>
            <a:r>
              <a:rPr sz="1200" b="0">
                <a:solidFill>
                  <a:srgbClr val="1A3A6B"/>
                </a:solidFill>
              </a:rPr>
              <a:t>▸  顺周期性问题：危机前监管标准过松，危机中反而收紧</a:t>
            </a:r>
          </a:p>
        </p:txBody>
      </p:sp>
      <p:sp>
        <p:nvSpPr>
          <p:cNvPr id="14" name="TextBox 13"/>
          <p:cNvSpPr txBox="1"/>
          <p:nvPr/>
        </p:nvSpPr>
        <p:spPr>
          <a:xfrm>
            <a:off x="365760" y="5266944"/>
            <a:ext cx="11430000" cy="365760"/>
          </a:xfrm>
          <a:prstGeom prst="rect">
            <a:avLst/>
          </a:prstGeom>
          <a:noFill/>
        </p:spPr>
        <p:txBody>
          <a:bodyPr wrap="square">
            <a:spAutoFit/>
          </a:bodyPr>
          <a:lstStyle/>
          <a:p>
            <a:pPr algn="l"/>
            <a:r>
              <a:rPr sz="1200" b="0">
                <a:solidFill>
                  <a:srgbClr val="1A3A6B"/>
                </a:solidFill>
              </a:rPr>
              <a:t>▸  中国的经验教训：强化宏观审慎与微观审慎的协调</a:t>
            </a:r>
          </a:p>
        </p:txBody>
      </p:sp>
      <p:sp>
        <p:nvSpPr>
          <p:cNvPr id="15" name="TextBox 14"/>
          <p:cNvSpPr txBox="1"/>
          <p:nvPr/>
        </p:nvSpPr>
        <p:spPr>
          <a:xfrm>
            <a:off x="365760" y="5650992"/>
            <a:ext cx="11430000" cy="365760"/>
          </a:xfrm>
          <a:prstGeom prst="rect">
            <a:avLst/>
          </a:prstGeom>
          <a:noFill/>
        </p:spPr>
        <p:txBody>
          <a:bodyPr wrap="square">
            <a:spAutoFit/>
          </a:bodyPr>
          <a:lstStyle/>
          <a:p>
            <a:pPr algn="l"/>
            <a:r>
              <a:rPr sz="1200" b="0">
                <a:solidFill>
                  <a:srgbClr val="1A3A6B"/>
                </a:solidFill>
              </a:rPr>
              <a:t>▸  改革方向：巴塞尔III资本要求、流动性覆盖率、杠杆率上限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54864"/>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7315200" cy="384048"/>
          </a:xfrm>
          <a:prstGeom prst="rect">
            <a:avLst/>
          </a:prstGeom>
          <a:noFill/>
        </p:spPr>
        <p:txBody>
          <a:bodyPr wrap="square">
            <a:spAutoFit/>
          </a:bodyPr>
          <a:lstStyle/>
          <a:p>
            <a:pPr algn="l"/>
            <a:r>
              <a:rPr sz="1200" b="1">
                <a:solidFill>
                  <a:srgbClr val="D4AC0D"/>
                </a:solidFill>
              </a:rPr>
              <a:t>第一章  |  本章小结</a:t>
            </a:r>
          </a:p>
        </p:txBody>
      </p:sp>
      <p:sp>
        <p:nvSpPr>
          <p:cNvPr id="5" name="TextBox 4"/>
          <p:cNvSpPr txBox="1"/>
          <p:nvPr/>
        </p:nvSpPr>
        <p:spPr>
          <a:xfrm>
            <a:off x="274320" y="457200"/>
            <a:ext cx="10972800" cy="713232"/>
          </a:xfrm>
          <a:prstGeom prst="rect">
            <a:avLst/>
          </a:prstGeom>
          <a:noFill/>
        </p:spPr>
        <p:txBody>
          <a:bodyPr wrap="square">
            <a:spAutoFit/>
          </a:bodyPr>
          <a:lstStyle/>
          <a:p>
            <a:pPr algn="l"/>
            <a:r>
              <a:rPr sz="2400" b="1">
                <a:solidFill>
                  <a:srgbClr val="FFFFFF"/>
                </a:solidFill>
              </a:rPr>
              <a:t>金融监管概论 — 核心要点</a:t>
            </a:r>
          </a:p>
        </p:txBody>
      </p:sp>
      <p:sp>
        <p:nvSpPr>
          <p:cNvPr id="6" name="Rectangle 5"/>
          <p:cNvSpPr/>
          <p:nvPr/>
        </p:nvSpPr>
        <p:spPr>
          <a:xfrm>
            <a:off x="274320" y="1481328"/>
            <a:ext cx="11612880"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81328"/>
            <a:ext cx="54864" cy="5486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54480"/>
            <a:ext cx="11247120" cy="402336"/>
          </a:xfrm>
          <a:prstGeom prst="rect">
            <a:avLst/>
          </a:prstGeom>
          <a:noFill/>
        </p:spPr>
        <p:txBody>
          <a:bodyPr wrap="square">
            <a:spAutoFit/>
          </a:bodyPr>
          <a:lstStyle/>
          <a:p>
            <a:pPr algn="l"/>
            <a:r>
              <a:rPr sz="1300" b="0">
                <a:solidFill>
                  <a:srgbClr val="1A3A6B"/>
                </a:solidFill>
              </a:rPr>
              <a:t>  金融监管是政府基于公共利益对金融业实施的强制性干预</a:t>
            </a:r>
          </a:p>
        </p:txBody>
      </p:sp>
      <p:sp>
        <p:nvSpPr>
          <p:cNvPr id="9" name="Rectangle 8"/>
          <p:cNvSpPr/>
          <p:nvPr/>
        </p:nvSpPr>
        <p:spPr>
          <a:xfrm>
            <a:off x="274320" y="2057400"/>
            <a:ext cx="116128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5486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30552"/>
            <a:ext cx="11247120" cy="402336"/>
          </a:xfrm>
          <a:prstGeom prst="rect">
            <a:avLst/>
          </a:prstGeom>
          <a:noFill/>
        </p:spPr>
        <p:txBody>
          <a:bodyPr wrap="square">
            <a:spAutoFit/>
          </a:bodyPr>
          <a:lstStyle/>
          <a:p>
            <a:pPr algn="l"/>
            <a:r>
              <a:rPr sz="1300" b="0">
                <a:solidFill>
                  <a:srgbClr val="1A3A6B"/>
                </a:solidFill>
              </a:rPr>
              <a:t>  市场失灵（信息不对称、外部性、系统性风险）是监管存在的根本依据</a:t>
            </a:r>
          </a:p>
        </p:txBody>
      </p:sp>
      <p:sp>
        <p:nvSpPr>
          <p:cNvPr id="12" name="Rectangle 11"/>
          <p:cNvSpPr/>
          <p:nvPr/>
        </p:nvSpPr>
        <p:spPr>
          <a:xfrm>
            <a:off x="274320" y="2633472"/>
            <a:ext cx="11612880"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633472"/>
            <a:ext cx="54864" cy="5486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706624"/>
            <a:ext cx="11247120" cy="402336"/>
          </a:xfrm>
          <a:prstGeom prst="rect">
            <a:avLst/>
          </a:prstGeom>
          <a:noFill/>
        </p:spPr>
        <p:txBody>
          <a:bodyPr wrap="square">
            <a:spAutoFit/>
          </a:bodyPr>
          <a:lstStyle/>
          <a:p>
            <a:pPr algn="l"/>
            <a:r>
              <a:rPr sz="1300" b="0">
                <a:solidFill>
                  <a:srgbClr val="1A3A6B"/>
                </a:solidFill>
              </a:rPr>
              <a:t>  金融监管目标涵盖稳定、效率、公平和消费者保护四个维度</a:t>
            </a:r>
          </a:p>
        </p:txBody>
      </p:sp>
      <p:sp>
        <p:nvSpPr>
          <p:cNvPr id="15" name="Rectangle 14"/>
          <p:cNvSpPr/>
          <p:nvPr/>
        </p:nvSpPr>
        <p:spPr>
          <a:xfrm>
            <a:off x="274320" y="3209544"/>
            <a:ext cx="116128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209544"/>
            <a:ext cx="54864" cy="5486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82696"/>
            <a:ext cx="11247120" cy="402336"/>
          </a:xfrm>
          <a:prstGeom prst="rect">
            <a:avLst/>
          </a:prstGeom>
          <a:noFill/>
        </p:spPr>
        <p:txBody>
          <a:bodyPr wrap="square">
            <a:spAutoFit/>
          </a:bodyPr>
          <a:lstStyle/>
          <a:p>
            <a:pPr algn="l"/>
            <a:r>
              <a:rPr sz="1300" b="0">
                <a:solidFill>
                  <a:srgbClr val="1A3A6B"/>
                </a:solidFill>
              </a:rPr>
              <a:t>  国际上存在单一、多头、伞形等不同监管体制模式</a:t>
            </a:r>
          </a:p>
        </p:txBody>
      </p:sp>
      <p:sp>
        <p:nvSpPr>
          <p:cNvPr id="18" name="Rectangle 17"/>
          <p:cNvSpPr/>
          <p:nvPr/>
        </p:nvSpPr>
        <p:spPr>
          <a:xfrm>
            <a:off x="274320" y="3785615"/>
            <a:ext cx="11612880"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785615"/>
            <a:ext cx="54864" cy="5486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58768"/>
            <a:ext cx="11247120" cy="402336"/>
          </a:xfrm>
          <a:prstGeom prst="rect">
            <a:avLst/>
          </a:prstGeom>
          <a:noFill/>
        </p:spPr>
        <p:txBody>
          <a:bodyPr wrap="square">
            <a:spAutoFit/>
          </a:bodyPr>
          <a:lstStyle/>
          <a:p>
            <a:pPr algn="l"/>
            <a:r>
              <a:rPr sz="1300" b="0">
                <a:solidFill>
                  <a:srgbClr val="1A3A6B"/>
                </a:solidFill>
              </a:rPr>
              <a:t>  中国已形成一行一局一会的分业监管格局，宏观审慎框架持续完善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A6B"/>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7315200" cy="384048"/>
          </a:xfrm>
          <a:prstGeom prst="rect">
            <a:avLst/>
          </a:prstGeom>
          <a:noFill/>
        </p:spPr>
        <p:txBody>
          <a:bodyPr wrap="square">
            <a:spAutoFit/>
          </a:bodyPr>
          <a:lstStyle/>
          <a:p>
            <a:pPr algn="l"/>
            <a:r>
              <a:rPr sz="1200" b="1">
                <a:solidFill>
                  <a:srgbClr val="D4AC0D"/>
                </a:solidFill>
              </a:rPr>
              <a:t>第一章  |  思考与讨论</a:t>
            </a:r>
          </a:p>
        </p:txBody>
      </p:sp>
      <p:sp>
        <p:nvSpPr>
          <p:cNvPr id="5" name="TextBox 4"/>
          <p:cNvSpPr txBox="1"/>
          <p:nvPr/>
        </p:nvSpPr>
        <p:spPr>
          <a:xfrm>
            <a:off x="274320" y="457200"/>
            <a:ext cx="9144000" cy="749808"/>
          </a:xfrm>
          <a:prstGeom prst="rect">
            <a:avLst/>
          </a:prstGeom>
          <a:noFill/>
        </p:spPr>
        <p:txBody>
          <a:bodyPr wrap="square">
            <a:spAutoFit/>
          </a:bodyPr>
          <a:lstStyle/>
          <a:p>
            <a:pPr algn="l"/>
            <a:r>
              <a:rPr sz="2800" b="1">
                <a:solidFill>
                  <a:srgbClr val="FFFFFF"/>
                </a:solidFill>
              </a:rPr>
              <a:t>本章思考题</a:t>
            </a:r>
          </a:p>
        </p:txBody>
      </p:sp>
      <p:sp>
        <p:nvSpPr>
          <p:cNvPr id="6" name="Rectangle 5"/>
          <p:cNvSpPr/>
          <p:nvPr/>
        </p:nvSpPr>
        <p:spPr>
          <a:xfrm>
            <a:off x="274320" y="1627632"/>
            <a:ext cx="621792" cy="475488"/>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27632"/>
            <a:ext cx="621792" cy="475488"/>
          </a:xfrm>
          <a:prstGeom prst="rect">
            <a:avLst/>
          </a:prstGeom>
          <a:noFill/>
        </p:spPr>
        <p:txBody>
          <a:bodyPr wrap="square">
            <a:spAutoFit/>
          </a:bodyPr>
          <a:lstStyle/>
          <a:p>
            <a:pPr algn="ctr"/>
            <a:r>
              <a:rPr sz="1600" b="1">
                <a:solidFill>
                  <a:srgbClr val="1A3A6B"/>
                </a:solidFill>
              </a:rPr>
              <a:t>Q1</a:t>
            </a:r>
          </a:p>
        </p:txBody>
      </p:sp>
      <p:sp>
        <p:nvSpPr>
          <p:cNvPr id="8" name="TextBox 7"/>
          <p:cNvSpPr txBox="1"/>
          <p:nvPr/>
        </p:nvSpPr>
        <p:spPr>
          <a:xfrm>
            <a:off x="1033271" y="1627632"/>
            <a:ext cx="10789920" cy="475488"/>
          </a:xfrm>
          <a:prstGeom prst="rect">
            <a:avLst/>
          </a:prstGeom>
          <a:noFill/>
        </p:spPr>
        <p:txBody>
          <a:bodyPr wrap="square">
            <a:spAutoFit/>
          </a:bodyPr>
          <a:lstStyle/>
          <a:p>
            <a:pPr algn="l"/>
            <a:r>
              <a:rPr sz="1300" b="0">
                <a:solidFill>
                  <a:srgbClr val="BDD7EE"/>
                </a:solidFill>
              </a:rPr>
              <a:t>金融监管存在的经济学理论依据有哪些？信息不对称如何导致市场失灵？</a:t>
            </a:r>
          </a:p>
        </p:txBody>
      </p:sp>
      <p:sp>
        <p:nvSpPr>
          <p:cNvPr id="9" name="Rectangle 8"/>
          <p:cNvSpPr/>
          <p:nvPr/>
        </p:nvSpPr>
        <p:spPr>
          <a:xfrm>
            <a:off x="274320" y="2322576"/>
            <a:ext cx="621792" cy="475488"/>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322576"/>
            <a:ext cx="621792" cy="475488"/>
          </a:xfrm>
          <a:prstGeom prst="rect">
            <a:avLst/>
          </a:prstGeom>
          <a:noFill/>
        </p:spPr>
        <p:txBody>
          <a:bodyPr wrap="square">
            <a:spAutoFit/>
          </a:bodyPr>
          <a:lstStyle/>
          <a:p>
            <a:pPr algn="ctr"/>
            <a:r>
              <a:rPr sz="1600" b="1">
                <a:solidFill>
                  <a:srgbClr val="1A3A6B"/>
                </a:solidFill>
              </a:rPr>
              <a:t>Q2</a:t>
            </a:r>
          </a:p>
        </p:txBody>
      </p:sp>
      <p:sp>
        <p:nvSpPr>
          <p:cNvPr id="11" name="TextBox 10"/>
          <p:cNvSpPr txBox="1"/>
          <p:nvPr/>
        </p:nvSpPr>
        <p:spPr>
          <a:xfrm>
            <a:off x="1033271" y="2322576"/>
            <a:ext cx="10789920" cy="475488"/>
          </a:xfrm>
          <a:prstGeom prst="rect">
            <a:avLst/>
          </a:prstGeom>
          <a:noFill/>
        </p:spPr>
        <p:txBody>
          <a:bodyPr wrap="square">
            <a:spAutoFit/>
          </a:bodyPr>
          <a:lstStyle/>
          <a:p>
            <a:pPr algn="l"/>
            <a:r>
              <a:rPr sz="1300" b="0">
                <a:solidFill>
                  <a:srgbClr val="BDD7EE"/>
                </a:solidFill>
              </a:rPr>
              <a:t>金融监管的多重目标之间是否存在矛盾？应如何权衡协调？</a:t>
            </a:r>
          </a:p>
        </p:txBody>
      </p:sp>
      <p:sp>
        <p:nvSpPr>
          <p:cNvPr id="12" name="Rectangle 11"/>
          <p:cNvSpPr/>
          <p:nvPr/>
        </p:nvSpPr>
        <p:spPr>
          <a:xfrm>
            <a:off x="274320" y="3017520"/>
            <a:ext cx="621792" cy="475488"/>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017520"/>
            <a:ext cx="621792" cy="475488"/>
          </a:xfrm>
          <a:prstGeom prst="rect">
            <a:avLst/>
          </a:prstGeom>
          <a:noFill/>
        </p:spPr>
        <p:txBody>
          <a:bodyPr wrap="square">
            <a:spAutoFit/>
          </a:bodyPr>
          <a:lstStyle/>
          <a:p>
            <a:pPr algn="ctr"/>
            <a:r>
              <a:rPr sz="1600" b="1">
                <a:solidFill>
                  <a:srgbClr val="1A3A6B"/>
                </a:solidFill>
              </a:rPr>
              <a:t>Q3</a:t>
            </a:r>
          </a:p>
        </p:txBody>
      </p:sp>
      <p:sp>
        <p:nvSpPr>
          <p:cNvPr id="14" name="TextBox 13"/>
          <p:cNvSpPr txBox="1"/>
          <p:nvPr/>
        </p:nvSpPr>
        <p:spPr>
          <a:xfrm>
            <a:off x="1033271" y="3017520"/>
            <a:ext cx="10789920" cy="475488"/>
          </a:xfrm>
          <a:prstGeom prst="rect">
            <a:avLst/>
          </a:prstGeom>
          <a:noFill/>
        </p:spPr>
        <p:txBody>
          <a:bodyPr wrap="square">
            <a:spAutoFit/>
          </a:bodyPr>
          <a:lstStyle/>
          <a:p>
            <a:pPr algn="l"/>
            <a:r>
              <a:rPr sz="1300" b="0">
                <a:solidFill>
                  <a:srgbClr val="BDD7EE"/>
                </a:solidFill>
              </a:rPr>
              <a:t>单一监管模式与多头监管模式各有何优劣？中国的选择依据是什么？</a:t>
            </a:r>
          </a:p>
        </p:txBody>
      </p:sp>
      <p:sp>
        <p:nvSpPr>
          <p:cNvPr id="15" name="Rectangle 14"/>
          <p:cNvSpPr/>
          <p:nvPr/>
        </p:nvSpPr>
        <p:spPr>
          <a:xfrm>
            <a:off x="274320" y="3712463"/>
            <a:ext cx="621792" cy="475488"/>
          </a:xfrm>
          <a:prstGeom prst="rect">
            <a:avLst/>
          </a:prstGeom>
          <a:solidFill>
            <a:srgbClr val="D4AC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712463"/>
            <a:ext cx="621792" cy="475488"/>
          </a:xfrm>
          <a:prstGeom prst="rect">
            <a:avLst/>
          </a:prstGeom>
          <a:noFill/>
        </p:spPr>
        <p:txBody>
          <a:bodyPr wrap="square">
            <a:spAutoFit/>
          </a:bodyPr>
          <a:lstStyle/>
          <a:p>
            <a:pPr algn="ctr"/>
            <a:r>
              <a:rPr sz="1600" b="1">
                <a:solidFill>
                  <a:srgbClr val="1A3A6B"/>
                </a:solidFill>
              </a:rPr>
              <a:t>Q4</a:t>
            </a:r>
          </a:p>
        </p:txBody>
      </p:sp>
      <p:sp>
        <p:nvSpPr>
          <p:cNvPr id="17" name="TextBox 16"/>
          <p:cNvSpPr txBox="1"/>
          <p:nvPr/>
        </p:nvSpPr>
        <p:spPr>
          <a:xfrm>
            <a:off x="1033271" y="3712463"/>
            <a:ext cx="10789920" cy="475488"/>
          </a:xfrm>
          <a:prstGeom prst="rect">
            <a:avLst/>
          </a:prstGeom>
          <a:noFill/>
        </p:spPr>
        <p:txBody>
          <a:bodyPr wrap="square">
            <a:spAutoFit/>
          </a:bodyPr>
          <a:lstStyle/>
          <a:p>
            <a:pPr algn="l"/>
            <a:r>
              <a:rPr sz="1300" b="0">
                <a:solidFill>
                  <a:srgbClr val="BDD7EE"/>
                </a:solidFill>
              </a:rPr>
              <a:t>2008年金融危机对金融监管理论与实践产生了哪些深远影响？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