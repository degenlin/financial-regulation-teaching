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035040"/>
            <a:ext cx="11960352" cy="6400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C0D"/>
                </a:solidFill>
              </a:rPr>
              <a:t>王娴《金融监管理论与实践》配套课件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第 六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4AC0D"/>
                </a:solidFill>
              </a:rPr>
              <a:t>金融控股公司监管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DD7EE"/>
                </a:solidFill>
              </a:rPr>
              <a:t>综合经营、风险隔离与并表监管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C3E6"/>
                </a:solidFill>
              </a:rPr>
              <a:t>探讨混业经营下金融控股公司的监管挑战与制度建设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金融监管理论与实践  | 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本章内容框架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金融控股公司的兴起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并表监管核心要求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中国金融控股公司监管制度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系统重要性金融机构（SIFI）监管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理解金融控股公司的商业逻辑与风险特征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225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掌握金融控股公司并表监管的核心方法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了解中国金融控股公司监督管理试行办法的主要内容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认识防火墙制度与关联交易监管的重要性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分析中国系统重要性金融机构监管框架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金融控股公司的兴起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混业经营的经济动因：协同效应与多元化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金融控股公司的类型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实业资本控制型（如蚂蚁集团）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426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金融机构控股型（如中信集团）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999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银行主导型（如工银投资）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3558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5584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混业经营的风险传染机制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并表监管核心要求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资本充足：集团并表资本充足率计算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关联交易管控：防止利益输送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关联交易的认定与披露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426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关联交易价格公允性审查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防火墙制度：物理隔离与信息隔离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杠杆率管控：禁止多层嵌套虚增资本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中国金融控股公司监管制度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金融控股公司监督管理试行办法（2020年）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准入监管：注册资本不低于50亿元，实缴到位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股权结构：最终控制人的穿透识别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资本管理：并表资本充足率不低于100%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治理要求：独立董事、风险隔离委员会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930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9300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监管机构：中国人民银行为主监管机构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系统重要性金融机构（SIFI）监管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国内系统重要性银行（D-SIBs）：工农中建交+招商等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系统重要性保险机构（D-SIIs）认定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附加资本要求：1%-3.5%（银行）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恢复与处置计划（RRP）：生前遗嘱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全球系统重要性机构（G-SIBs）：中国四大行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第六章  |  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蚂蚁集团整改与金融控股公司监管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73152" cy="20848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【案例背景】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12471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2020年11月，蚂蚁集团暂停上市。监管部门认定蚂蚁通过支付宝场景汇聚了银行、保险、证券等多类金融业务，实质上构成金融控股公司，但其资本金远不足以覆盖所承担的金融风险，且利用平台优势实施监管套利。2021年，监管要求蚂蚁设立金融控股公司，将所有金融业务纳入持牌管理，并大幅补充资本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【案例分析】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监管真空：科技公司以技术名义游离于金融监管之外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杠杆风险：小微贷款业务实际杠杆率远超银行标准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828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数据垄断：平台数据的金融应用引发竞争与隐私问题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669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整改路径：设立金控公司、补充资本、消费金融公司持牌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50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监管原则：同类业务同类监管，打破大而不倒预期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第六章  |  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金融控股公司监管 — 核心要点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金融控股公司集聚多类金融风险，需要并表监管加以有效管控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中国金融控股公司监管办法填补了多年来的监管空白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33472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防火墙制度和关联交易管控是防止风险传染的关键机制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蚂蚁整改案例确立了穿透监管和功能监管的实践范例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5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85615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系统重要性机构需承担额外的资本缓冲和处置计划义务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第六章  |  思考与讨论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本章思考题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金融控股公司模式带来哪些特有的风险？如何通过并表监管加以控制？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225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防火墙制度在金融控股公司中的作用是什么？有哪些局限性？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0175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如何界定互联网平台公司的金融控股公司属性？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蚂蚁集团整改对中国金融科技监管有哪些深远影响？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